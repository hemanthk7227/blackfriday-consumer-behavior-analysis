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67" r:id="rId3"/>
    <p:sldId id="266" r:id="rId4"/>
    <p:sldId id="265" r:id="rId5"/>
    <p:sldId id="260" r:id="rId6"/>
    <p:sldId id="261" r:id="rId7"/>
    <p:sldId id="262" r:id="rId8"/>
    <p:sldId id="263" r:id="rId9"/>
    <p:sldId id="264" r:id="rId10"/>
    <p:sldId id="269"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SHI" initials="R" lastIdx="1" clrIdx="0">
    <p:extLst>
      <p:ext uri="{19B8F6BF-5375-455C-9EA6-DF929625EA0E}">
        <p15:presenceInfo xmlns:p15="http://schemas.microsoft.com/office/powerpoint/2012/main" userId="ed6976762a8eff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ADA5A8-EFFD-499A-BBB2-08149C56C796}" v="343" dt="2023-12-08T15:43:05.609"/>
    <p1510:client id="{CE2CC5B3-7F1A-8FA6-A665-003D12025AEA}" v="383" dt="2023-12-11T01:08:16.1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p:scale>
          <a:sx n="77" d="100"/>
          <a:sy n="77" d="100"/>
        </p:scale>
        <p:origin x="29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bg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a:alpha val="0"/>
      </a:schemeClr>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7C01C1-539D-4304-8836-A1446414BDA2}" type="doc">
      <dgm:prSet loTypeId="urn:microsoft.com/office/officeart/2018/2/layout/IconVerticalSolidList" loCatId="icon" qsTypeId="urn:microsoft.com/office/officeart/2005/8/quickstyle/simple1" qsCatId="simple" csTypeId="urn:microsoft.com/office/officeart/2018/5/colors/Iconchunking_neutralbg_accent5_2" csCatId="accent5" phldr="1"/>
      <dgm:spPr/>
      <dgm:t>
        <a:bodyPr/>
        <a:lstStyle/>
        <a:p>
          <a:endParaRPr lang="en-US"/>
        </a:p>
      </dgm:t>
    </dgm:pt>
    <dgm:pt modelId="{0C6FFCA8-804F-4B76-A77D-99125A1B2644}">
      <dgm:prSet/>
      <dgm:spPr/>
      <dgm:t>
        <a:bodyPr/>
        <a:lstStyle/>
        <a:p>
          <a:r>
            <a:rPr lang="en-US" b="0"/>
            <a:t>Every year, the Friday after thanksgiving ignites a global shopping frenzy known as black Friday. This retail deal day, born in the US, has </a:t>
          </a:r>
          <a:r>
            <a:rPr lang="en-US" b="0">
              <a:latin typeface="Aharoni"/>
            </a:rPr>
            <a:t>excited customers worldwide</a:t>
          </a:r>
          <a:r>
            <a:rPr lang="en-US" b="0"/>
            <a:t> with its promise of deals and offers. It’s the official launch of the holiday shopping season, where stores unleash their most tempting discounts, bargain hunters into savings on the products. But Black Friday evolved into a digital bonanza, with online stores offering virtual shopping. This shift has made deals more accessible, but it's also brought new challenges and opportunities for everyone involved.</a:t>
          </a:r>
        </a:p>
      </dgm:t>
    </dgm:pt>
    <dgm:pt modelId="{A9564930-8866-4E31-9BE5-30E3D07C6D2D}" type="parTrans" cxnId="{41170F49-26FE-4B15-BA5B-87C973FF034F}">
      <dgm:prSet/>
      <dgm:spPr/>
      <dgm:t>
        <a:bodyPr/>
        <a:lstStyle/>
        <a:p>
          <a:endParaRPr lang="en-US"/>
        </a:p>
      </dgm:t>
    </dgm:pt>
    <dgm:pt modelId="{CC1B5B5B-1C9F-4BDC-B87C-620195D45341}" type="sibTrans" cxnId="{41170F49-26FE-4B15-BA5B-87C973FF034F}">
      <dgm:prSet/>
      <dgm:spPr/>
      <dgm:t>
        <a:bodyPr/>
        <a:lstStyle/>
        <a:p>
          <a:endParaRPr lang="en-US"/>
        </a:p>
      </dgm:t>
    </dgm:pt>
    <dgm:pt modelId="{289EDB92-E8EA-4DEB-BFCC-72894AE1A68A}">
      <dgm:prSet/>
      <dgm:spPr/>
      <dgm:t>
        <a:bodyPr/>
        <a:lstStyle/>
        <a:p>
          <a:r>
            <a:rPr lang="en-US" b="0"/>
            <a:t>In this presentation, we will explore the Black Friday sales trends using Tableau data visualization to uncover valuable insights that can empower businesses. We will delve into the impact of various factors on sales and identify key patterns and trends.</a:t>
          </a:r>
        </a:p>
      </dgm:t>
    </dgm:pt>
    <dgm:pt modelId="{02BD804F-3E92-4B2A-B66C-772CBC400114}" type="parTrans" cxnId="{D8B37079-42BE-428C-9FAA-27F590DDEEE7}">
      <dgm:prSet/>
      <dgm:spPr/>
      <dgm:t>
        <a:bodyPr/>
        <a:lstStyle/>
        <a:p>
          <a:endParaRPr lang="en-US"/>
        </a:p>
      </dgm:t>
    </dgm:pt>
    <dgm:pt modelId="{47467F1F-825E-4CD0-831A-664DDA34C214}" type="sibTrans" cxnId="{D8B37079-42BE-428C-9FAA-27F590DDEEE7}">
      <dgm:prSet/>
      <dgm:spPr/>
      <dgm:t>
        <a:bodyPr/>
        <a:lstStyle/>
        <a:p>
          <a:endParaRPr lang="en-US"/>
        </a:p>
      </dgm:t>
    </dgm:pt>
    <dgm:pt modelId="{C48393EE-E976-46AE-A706-BCB22F0A5590}" type="pres">
      <dgm:prSet presAssocID="{DC7C01C1-539D-4304-8836-A1446414BDA2}" presName="root" presStyleCnt="0">
        <dgm:presLayoutVars>
          <dgm:dir/>
          <dgm:resizeHandles val="exact"/>
        </dgm:presLayoutVars>
      </dgm:prSet>
      <dgm:spPr/>
    </dgm:pt>
    <dgm:pt modelId="{4C6C8D18-76F4-4358-9730-3F2B0C62B4BE}" type="pres">
      <dgm:prSet presAssocID="{0C6FFCA8-804F-4B76-A77D-99125A1B2644}" presName="compNode" presStyleCnt="0"/>
      <dgm:spPr/>
    </dgm:pt>
    <dgm:pt modelId="{2B29C8A2-C666-421E-B038-A6DA1E03352E}" type="pres">
      <dgm:prSet presAssocID="{0C6FFCA8-804F-4B76-A77D-99125A1B2644}" presName="bgRect" presStyleLbl="bgShp" presStyleIdx="0" presStyleCnt="2"/>
      <dgm:spPr/>
    </dgm:pt>
    <dgm:pt modelId="{55C05FD3-6D3F-4A7B-9A43-2886A430326F}" type="pres">
      <dgm:prSet presAssocID="{0C6FFCA8-804F-4B76-A77D-99125A1B2644}"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reworks"/>
        </a:ext>
      </dgm:extLst>
    </dgm:pt>
    <dgm:pt modelId="{4EE2E4CD-BE4C-4073-9723-20E24464FAE8}" type="pres">
      <dgm:prSet presAssocID="{0C6FFCA8-804F-4B76-A77D-99125A1B2644}" presName="spaceRect" presStyleCnt="0"/>
      <dgm:spPr/>
    </dgm:pt>
    <dgm:pt modelId="{F69DD305-8953-43C4-9E57-11775A2C578E}" type="pres">
      <dgm:prSet presAssocID="{0C6FFCA8-804F-4B76-A77D-99125A1B2644}" presName="parTx" presStyleLbl="revTx" presStyleIdx="0" presStyleCnt="2">
        <dgm:presLayoutVars>
          <dgm:chMax val="0"/>
          <dgm:chPref val="0"/>
        </dgm:presLayoutVars>
      </dgm:prSet>
      <dgm:spPr/>
    </dgm:pt>
    <dgm:pt modelId="{0C84D6DC-AEB6-43DC-B3F8-0C6CFFFBF2E1}" type="pres">
      <dgm:prSet presAssocID="{CC1B5B5B-1C9F-4BDC-B87C-620195D45341}" presName="sibTrans" presStyleCnt="0"/>
      <dgm:spPr/>
    </dgm:pt>
    <dgm:pt modelId="{4A9B50FC-A43F-44BC-8C3F-FA131FE0F7C3}" type="pres">
      <dgm:prSet presAssocID="{289EDB92-E8EA-4DEB-BFCC-72894AE1A68A}" presName="compNode" presStyleCnt="0"/>
      <dgm:spPr/>
    </dgm:pt>
    <dgm:pt modelId="{771AF982-265F-4F95-A0B9-49095521FEDD}" type="pres">
      <dgm:prSet presAssocID="{289EDB92-E8EA-4DEB-BFCC-72894AE1A68A}" presName="bgRect" presStyleLbl="bgShp" presStyleIdx="1" presStyleCnt="2"/>
      <dgm:spPr/>
    </dgm:pt>
    <dgm:pt modelId="{7FB326AF-BB41-49E9-AEBF-4F7A07AE75B9}" type="pres">
      <dgm:prSet presAssocID="{289EDB92-E8EA-4DEB-BFCC-72894AE1A68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B2A98A39-A34C-49AA-9C76-6CDD95E1783D}" type="pres">
      <dgm:prSet presAssocID="{289EDB92-E8EA-4DEB-BFCC-72894AE1A68A}" presName="spaceRect" presStyleCnt="0"/>
      <dgm:spPr/>
    </dgm:pt>
    <dgm:pt modelId="{B3CE14DB-08D3-4359-941D-30B2C1DE3ED8}" type="pres">
      <dgm:prSet presAssocID="{289EDB92-E8EA-4DEB-BFCC-72894AE1A68A}" presName="parTx" presStyleLbl="revTx" presStyleIdx="1" presStyleCnt="2">
        <dgm:presLayoutVars>
          <dgm:chMax val="0"/>
          <dgm:chPref val="0"/>
        </dgm:presLayoutVars>
      </dgm:prSet>
      <dgm:spPr/>
    </dgm:pt>
  </dgm:ptLst>
  <dgm:cxnLst>
    <dgm:cxn modelId="{04ED5E00-9E51-4915-BBD9-2D35E8ED568F}" type="presOf" srcId="{0C6FFCA8-804F-4B76-A77D-99125A1B2644}" destId="{F69DD305-8953-43C4-9E57-11775A2C578E}" srcOrd="0" destOrd="0" presId="urn:microsoft.com/office/officeart/2018/2/layout/IconVerticalSolidList"/>
    <dgm:cxn modelId="{41170F49-26FE-4B15-BA5B-87C973FF034F}" srcId="{DC7C01C1-539D-4304-8836-A1446414BDA2}" destId="{0C6FFCA8-804F-4B76-A77D-99125A1B2644}" srcOrd="0" destOrd="0" parTransId="{A9564930-8866-4E31-9BE5-30E3D07C6D2D}" sibTransId="{CC1B5B5B-1C9F-4BDC-B87C-620195D45341}"/>
    <dgm:cxn modelId="{D8B37079-42BE-428C-9FAA-27F590DDEEE7}" srcId="{DC7C01C1-539D-4304-8836-A1446414BDA2}" destId="{289EDB92-E8EA-4DEB-BFCC-72894AE1A68A}" srcOrd="1" destOrd="0" parTransId="{02BD804F-3E92-4B2A-B66C-772CBC400114}" sibTransId="{47467F1F-825E-4CD0-831A-664DDA34C214}"/>
    <dgm:cxn modelId="{9EFE6481-34AF-4618-8891-C7868CFCF836}" type="presOf" srcId="{DC7C01C1-539D-4304-8836-A1446414BDA2}" destId="{C48393EE-E976-46AE-A706-BCB22F0A5590}" srcOrd="0" destOrd="0" presId="urn:microsoft.com/office/officeart/2018/2/layout/IconVerticalSolidList"/>
    <dgm:cxn modelId="{4BEA63DE-1164-46CA-A82E-7657234DCEFA}" type="presOf" srcId="{289EDB92-E8EA-4DEB-BFCC-72894AE1A68A}" destId="{B3CE14DB-08D3-4359-941D-30B2C1DE3ED8}" srcOrd="0" destOrd="0" presId="urn:microsoft.com/office/officeart/2018/2/layout/IconVerticalSolidList"/>
    <dgm:cxn modelId="{BC39AC48-386C-4AAE-9782-6A08E330FF1E}" type="presParOf" srcId="{C48393EE-E976-46AE-A706-BCB22F0A5590}" destId="{4C6C8D18-76F4-4358-9730-3F2B0C62B4BE}" srcOrd="0" destOrd="0" presId="urn:microsoft.com/office/officeart/2018/2/layout/IconVerticalSolidList"/>
    <dgm:cxn modelId="{E669D84F-C376-4B99-94CD-CC0B6692C94A}" type="presParOf" srcId="{4C6C8D18-76F4-4358-9730-3F2B0C62B4BE}" destId="{2B29C8A2-C666-421E-B038-A6DA1E03352E}" srcOrd="0" destOrd="0" presId="urn:microsoft.com/office/officeart/2018/2/layout/IconVerticalSolidList"/>
    <dgm:cxn modelId="{F2123C7F-8EE6-4DA9-9EB3-FE4A5E257678}" type="presParOf" srcId="{4C6C8D18-76F4-4358-9730-3F2B0C62B4BE}" destId="{55C05FD3-6D3F-4A7B-9A43-2886A430326F}" srcOrd="1" destOrd="0" presId="urn:microsoft.com/office/officeart/2018/2/layout/IconVerticalSolidList"/>
    <dgm:cxn modelId="{17929D18-A59D-4AA8-BEF8-937740CE9F54}" type="presParOf" srcId="{4C6C8D18-76F4-4358-9730-3F2B0C62B4BE}" destId="{4EE2E4CD-BE4C-4073-9723-20E24464FAE8}" srcOrd="2" destOrd="0" presId="urn:microsoft.com/office/officeart/2018/2/layout/IconVerticalSolidList"/>
    <dgm:cxn modelId="{C4B3CDA8-B96D-496C-884B-DE1EC28AC156}" type="presParOf" srcId="{4C6C8D18-76F4-4358-9730-3F2B0C62B4BE}" destId="{F69DD305-8953-43C4-9E57-11775A2C578E}" srcOrd="3" destOrd="0" presId="urn:microsoft.com/office/officeart/2018/2/layout/IconVerticalSolidList"/>
    <dgm:cxn modelId="{7B670519-D6B4-45AC-A5DE-30C8E781BF53}" type="presParOf" srcId="{C48393EE-E976-46AE-A706-BCB22F0A5590}" destId="{0C84D6DC-AEB6-43DC-B3F8-0C6CFFFBF2E1}" srcOrd="1" destOrd="0" presId="urn:microsoft.com/office/officeart/2018/2/layout/IconVerticalSolidList"/>
    <dgm:cxn modelId="{D69BD96A-46A0-4D04-B4E3-0D8243E7F765}" type="presParOf" srcId="{C48393EE-E976-46AE-A706-BCB22F0A5590}" destId="{4A9B50FC-A43F-44BC-8C3F-FA131FE0F7C3}" srcOrd="2" destOrd="0" presId="urn:microsoft.com/office/officeart/2018/2/layout/IconVerticalSolidList"/>
    <dgm:cxn modelId="{39361165-10D4-444F-A6C5-92C2B4AE2DE4}" type="presParOf" srcId="{4A9B50FC-A43F-44BC-8C3F-FA131FE0F7C3}" destId="{771AF982-265F-4F95-A0B9-49095521FEDD}" srcOrd="0" destOrd="0" presId="urn:microsoft.com/office/officeart/2018/2/layout/IconVerticalSolidList"/>
    <dgm:cxn modelId="{966B036E-A57A-471C-ADD6-E799D736DFCA}" type="presParOf" srcId="{4A9B50FC-A43F-44BC-8C3F-FA131FE0F7C3}" destId="{7FB326AF-BB41-49E9-AEBF-4F7A07AE75B9}" srcOrd="1" destOrd="0" presId="urn:microsoft.com/office/officeart/2018/2/layout/IconVerticalSolidList"/>
    <dgm:cxn modelId="{F1C5FD4C-0763-45DE-B5A6-3D59C8801223}" type="presParOf" srcId="{4A9B50FC-A43F-44BC-8C3F-FA131FE0F7C3}" destId="{B2A98A39-A34C-49AA-9C76-6CDD95E1783D}" srcOrd="2" destOrd="0" presId="urn:microsoft.com/office/officeart/2018/2/layout/IconVerticalSolidList"/>
    <dgm:cxn modelId="{29F5C156-FACB-4679-B724-3CC5F6C5DEBB}" type="presParOf" srcId="{4A9B50FC-A43F-44BC-8C3F-FA131FE0F7C3}" destId="{B3CE14DB-08D3-4359-941D-30B2C1DE3ED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F539-FD96-477D-B3E6-9517E5F82F6C}" type="doc">
      <dgm:prSet loTypeId="urn:microsoft.com/office/officeart/2016/7/layout/VerticalDownArrowProcess" loCatId="process" qsTypeId="urn:microsoft.com/office/officeart/2005/8/quickstyle/simple1" qsCatId="simple" csTypeId="urn:microsoft.com/office/officeart/2005/8/colors/colorful1" csCatId="colorful" phldr="1"/>
      <dgm:spPr/>
      <dgm:t>
        <a:bodyPr/>
        <a:lstStyle/>
        <a:p>
          <a:endParaRPr lang="en-US"/>
        </a:p>
      </dgm:t>
    </dgm:pt>
    <dgm:pt modelId="{F95B7A84-53DC-4F4B-9E89-86E68B8C3B5F}">
      <dgm:prSet/>
      <dgm:spPr/>
      <dgm:t>
        <a:bodyPr/>
        <a:lstStyle/>
        <a:p>
          <a:r>
            <a:rPr lang="en-US"/>
            <a:t>Data Source</a:t>
          </a:r>
        </a:p>
      </dgm:t>
    </dgm:pt>
    <dgm:pt modelId="{15BEF76E-271F-4EE6-B4CF-658B3B96F761}" type="parTrans" cxnId="{627AA6F9-1EBB-4575-AE19-DEA61F52A524}">
      <dgm:prSet/>
      <dgm:spPr/>
      <dgm:t>
        <a:bodyPr/>
        <a:lstStyle/>
        <a:p>
          <a:endParaRPr lang="en-US"/>
        </a:p>
      </dgm:t>
    </dgm:pt>
    <dgm:pt modelId="{A0C776D8-912B-4F3D-99AD-B7EF84FCA962}" type="sibTrans" cxnId="{627AA6F9-1EBB-4575-AE19-DEA61F52A524}">
      <dgm:prSet/>
      <dgm:spPr/>
      <dgm:t>
        <a:bodyPr/>
        <a:lstStyle/>
        <a:p>
          <a:endParaRPr lang="en-US"/>
        </a:p>
      </dgm:t>
    </dgm:pt>
    <dgm:pt modelId="{3B020571-D275-4683-8874-2C11D53CA415}">
      <dgm:prSet/>
      <dgm:spPr/>
      <dgm:t>
        <a:bodyPr/>
        <a:lstStyle/>
        <a:p>
          <a:r>
            <a:rPr lang="en-US"/>
            <a:t>Kaggle is the source of the data and it contains variables like customer demographics such as city type, gender, age, martial status, stay in the current city, product details, categories, and purchase amount.</a:t>
          </a:r>
        </a:p>
      </dgm:t>
    </dgm:pt>
    <dgm:pt modelId="{61BC4A76-DC44-4ADD-8776-32F3469CFD38}" type="parTrans" cxnId="{A66752F1-6863-4DEA-9BD0-2B1DA3B2D7E4}">
      <dgm:prSet/>
      <dgm:spPr/>
      <dgm:t>
        <a:bodyPr/>
        <a:lstStyle/>
        <a:p>
          <a:endParaRPr lang="en-US"/>
        </a:p>
      </dgm:t>
    </dgm:pt>
    <dgm:pt modelId="{7EB3BB89-1532-40F8-934A-4A012D2759BB}" type="sibTrans" cxnId="{A66752F1-6863-4DEA-9BD0-2B1DA3B2D7E4}">
      <dgm:prSet/>
      <dgm:spPr/>
      <dgm:t>
        <a:bodyPr/>
        <a:lstStyle/>
        <a:p>
          <a:endParaRPr lang="en-US"/>
        </a:p>
      </dgm:t>
    </dgm:pt>
    <dgm:pt modelId="{2B689458-395C-4CD2-B2F5-EDA84F44257C}">
      <dgm:prSet/>
      <dgm:spPr/>
      <dgm:t>
        <a:bodyPr/>
        <a:lstStyle/>
        <a:p>
          <a:pPr rtl="0"/>
          <a:r>
            <a:rPr lang="en-US"/>
            <a:t>Data </a:t>
          </a:r>
          <a:r>
            <a:rPr lang="en-US">
              <a:latin typeface="Aharoni"/>
            </a:rPr>
            <a:t>Understanding</a:t>
          </a:r>
        </a:p>
      </dgm:t>
    </dgm:pt>
    <dgm:pt modelId="{C80E6B81-9D59-42E0-9D1A-CDAC7E19CB0D}" type="parTrans" cxnId="{8E4E0748-77F1-48C5-9D8D-82F9387A6510}">
      <dgm:prSet/>
      <dgm:spPr/>
      <dgm:t>
        <a:bodyPr/>
        <a:lstStyle/>
        <a:p>
          <a:endParaRPr lang="en-US"/>
        </a:p>
      </dgm:t>
    </dgm:pt>
    <dgm:pt modelId="{5E2A38A0-16AC-40F4-B033-DB768E9969F7}" type="sibTrans" cxnId="{8E4E0748-77F1-48C5-9D8D-82F9387A6510}">
      <dgm:prSet/>
      <dgm:spPr/>
      <dgm:t>
        <a:bodyPr/>
        <a:lstStyle/>
        <a:p>
          <a:endParaRPr lang="en-US"/>
        </a:p>
      </dgm:t>
    </dgm:pt>
    <dgm:pt modelId="{E7828DE0-39A7-4F1D-9311-FDAEEBE9F1F2}">
      <dgm:prSet/>
      <dgm:spPr/>
      <dgm:t>
        <a:bodyPr/>
        <a:lstStyle/>
        <a:p>
          <a:r>
            <a:rPr lang="en-US"/>
            <a:t>Identify Key Metrics</a:t>
          </a:r>
        </a:p>
      </dgm:t>
    </dgm:pt>
    <dgm:pt modelId="{7E65CAC1-B5CB-4027-AFF0-AEB941005E0E}" type="parTrans" cxnId="{A80386A2-C803-43AB-BCAA-B8BB27DB0274}">
      <dgm:prSet/>
      <dgm:spPr/>
      <dgm:t>
        <a:bodyPr/>
        <a:lstStyle/>
        <a:p>
          <a:endParaRPr lang="en-US"/>
        </a:p>
      </dgm:t>
    </dgm:pt>
    <dgm:pt modelId="{237A8766-FB96-487A-89C3-776F26AED9BC}" type="sibTrans" cxnId="{A80386A2-C803-43AB-BCAA-B8BB27DB0274}">
      <dgm:prSet/>
      <dgm:spPr/>
      <dgm:t>
        <a:bodyPr/>
        <a:lstStyle/>
        <a:p>
          <a:endParaRPr lang="en-US"/>
        </a:p>
      </dgm:t>
    </dgm:pt>
    <dgm:pt modelId="{76FE9B82-1E13-4B07-8159-2913ACAB4FAB}">
      <dgm:prSet/>
      <dgm:spPr/>
      <dgm:t>
        <a:bodyPr/>
        <a:lstStyle/>
        <a:p>
          <a:r>
            <a:rPr lang="en-US"/>
            <a:t>Define the key metrics for analysis may include total sales revenue, average purchase value and product specific performance</a:t>
          </a:r>
        </a:p>
      </dgm:t>
    </dgm:pt>
    <dgm:pt modelId="{8659EEFE-51A8-4555-B276-A1C1EF523223}" type="parTrans" cxnId="{D62C0B9E-87AD-4E26-AD58-07E3695654B3}">
      <dgm:prSet/>
      <dgm:spPr/>
      <dgm:t>
        <a:bodyPr/>
        <a:lstStyle/>
        <a:p>
          <a:endParaRPr lang="en-US"/>
        </a:p>
      </dgm:t>
    </dgm:pt>
    <dgm:pt modelId="{79A91E54-CAD6-49E7-B2C3-148FEC6DB480}" type="sibTrans" cxnId="{D62C0B9E-87AD-4E26-AD58-07E3695654B3}">
      <dgm:prSet/>
      <dgm:spPr/>
      <dgm:t>
        <a:bodyPr/>
        <a:lstStyle/>
        <a:p>
          <a:endParaRPr lang="en-US"/>
        </a:p>
      </dgm:t>
    </dgm:pt>
    <dgm:pt modelId="{C3416CD1-CE47-46D4-889E-6438002FE021}">
      <dgm:prSet phldr="0"/>
      <dgm:spPr/>
      <dgm:t>
        <a:bodyPr/>
        <a:lstStyle/>
        <a:p>
          <a:pPr rtl="0"/>
          <a:r>
            <a:rPr lang="en-US">
              <a:solidFill>
                <a:srgbClr val="000000"/>
              </a:solidFill>
            </a:rPr>
            <a:t> Examine the data variables like product categories, purchase amounts, and customer demographics</a:t>
          </a:r>
          <a:endParaRPr lang="en-US">
            <a:latin typeface="Aharoni"/>
          </a:endParaRPr>
        </a:p>
      </dgm:t>
    </dgm:pt>
    <dgm:pt modelId="{EEEE5852-6953-4190-93E0-2468CF5F2001}" type="parTrans" cxnId="{A8C36CD5-ACAB-4357-A272-91BD1B2592B0}">
      <dgm:prSet/>
      <dgm:spPr/>
    </dgm:pt>
    <dgm:pt modelId="{29160834-7345-48C7-8B0F-5B380CE7CD22}" type="sibTrans" cxnId="{A8C36CD5-ACAB-4357-A272-91BD1B2592B0}">
      <dgm:prSet/>
      <dgm:spPr/>
    </dgm:pt>
    <dgm:pt modelId="{4F97157B-821C-4F7B-AB0D-6E7BDA01B7B3}" type="pres">
      <dgm:prSet presAssocID="{B7EDF539-FD96-477D-B3E6-9517E5F82F6C}" presName="Name0" presStyleCnt="0">
        <dgm:presLayoutVars>
          <dgm:dir/>
          <dgm:animLvl val="lvl"/>
          <dgm:resizeHandles val="exact"/>
        </dgm:presLayoutVars>
      </dgm:prSet>
      <dgm:spPr/>
    </dgm:pt>
    <dgm:pt modelId="{BD68C7C7-511E-4663-A427-FDE8019E3455}" type="pres">
      <dgm:prSet presAssocID="{E7828DE0-39A7-4F1D-9311-FDAEEBE9F1F2}" presName="boxAndChildren" presStyleCnt="0"/>
      <dgm:spPr/>
    </dgm:pt>
    <dgm:pt modelId="{95EF4C00-C036-4F46-8D38-AEDA3BA334F9}" type="pres">
      <dgm:prSet presAssocID="{E7828DE0-39A7-4F1D-9311-FDAEEBE9F1F2}" presName="parentTextBox" presStyleLbl="alignNode1" presStyleIdx="0" presStyleCnt="3"/>
      <dgm:spPr/>
    </dgm:pt>
    <dgm:pt modelId="{4BA8215B-4747-4DA9-9C10-B11D3108773B}" type="pres">
      <dgm:prSet presAssocID="{E7828DE0-39A7-4F1D-9311-FDAEEBE9F1F2}" presName="descendantBox" presStyleLbl="bgAccFollowNode1" presStyleIdx="0" presStyleCnt="3"/>
      <dgm:spPr/>
    </dgm:pt>
    <dgm:pt modelId="{B218EC24-531E-4A9F-89D9-9AB9B3579321}" type="pres">
      <dgm:prSet presAssocID="{5E2A38A0-16AC-40F4-B033-DB768E9969F7}" presName="sp" presStyleCnt="0"/>
      <dgm:spPr/>
    </dgm:pt>
    <dgm:pt modelId="{911EF3F6-34DF-49D7-BCF0-900D5DD9CE54}" type="pres">
      <dgm:prSet presAssocID="{2B689458-395C-4CD2-B2F5-EDA84F44257C}" presName="arrowAndChildren" presStyleCnt="0"/>
      <dgm:spPr/>
    </dgm:pt>
    <dgm:pt modelId="{A9AA5DCB-0CF1-4782-8A5D-77CE32F85370}" type="pres">
      <dgm:prSet presAssocID="{2B689458-395C-4CD2-B2F5-EDA84F44257C}" presName="parentTextArrow" presStyleLbl="node1" presStyleIdx="0" presStyleCnt="0"/>
      <dgm:spPr/>
    </dgm:pt>
    <dgm:pt modelId="{85E7F736-E2F5-4429-A999-7AE0C79E0EDE}" type="pres">
      <dgm:prSet presAssocID="{2B689458-395C-4CD2-B2F5-EDA84F44257C}" presName="arrow" presStyleLbl="alignNode1" presStyleIdx="1" presStyleCnt="3"/>
      <dgm:spPr/>
    </dgm:pt>
    <dgm:pt modelId="{D01CC3A5-DC55-4BBD-8309-40CF159B5BA7}" type="pres">
      <dgm:prSet presAssocID="{2B689458-395C-4CD2-B2F5-EDA84F44257C}" presName="descendantArrow" presStyleLbl="bgAccFollowNode1" presStyleIdx="1" presStyleCnt="3"/>
      <dgm:spPr/>
    </dgm:pt>
    <dgm:pt modelId="{B3560E2C-F423-442B-8210-EA4EA18A1D1C}" type="pres">
      <dgm:prSet presAssocID="{A0C776D8-912B-4F3D-99AD-B7EF84FCA962}" presName="sp" presStyleCnt="0"/>
      <dgm:spPr/>
    </dgm:pt>
    <dgm:pt modelId="{814D1917-A284-4EAC-B837-C5869794A61F}" type="pres">
      <dgm:prSet presAssocID="{F95B7A84-53DC-4F4B-9E89-86E68B8C3B5F}" presName="arrowAndChildren" presStyleCnt="0"/>
      <dgm:spPr/>
    </dgm:pt>
    <dgm:pt modelId="{B4395EFF-FEB4-4C13-8304-8747FF5439D7}" type="pres">
      <dgm:prSet presAssocID="{F95B7A84-53DC-4F4B-9E89-86E68B8C3B5F}" presName="parentTextArrow" presStyleLbl="node1" presStyleIdx="0" presStyleCnt="0"/>
      <dgm:spPr/>
    </dgm:pt>
    <dgm:pt modelId="{DA7DEF82-39B9-49C5-932D-55A616740484}" type="pres">
      <dgm:prSet presAssocID="{F95B7A84-53DC-4F4B-9E89-86E68B8C3B5F}" presName="arrow" presStyleLbl="alignNode1" presStyleIdx="2" presStyleCnt="3"/>
      <dgm:spPr/>
    </dgm:pt>
    <dgm:pt modelId="{1A7CBA09-FB12-4A8D-A4CC-8962480E1D0D}" type="pres">
      <dgm:prSet presAssocID="{F95B7A84-53DC-4F4B-9E89-86E68B8C3B5F}" presName="descendantArrow" presStyleLbl="bgAccFollowNode1" presStyleIdx="2" presStyleCnt="3"/>
      <dgm:spPr/>
    </dgm:pt>
  </dgm:ptLst>
  <dgm:cxnLst>
    <dgm:cxn modelId="{7D692610-D42A-41DB-BEBC-90C1672B696B}" type="presOf" srcId="{F95B7A84-53DC-4F4B-9E89-86E68B8C3B5F}" destId="{B4395EFF-FEB4-4C13-8304-8747FF5439D7}" srcOrd="0" destOrd="0" presId="urn:microsoft.com/office/officeart/2016/7/layout/VerticalDownArrowProcess"/>
    <dgm:cxn modelId="{DCF6211B-6878-4B87-B706-09512BEACB3B}" type="presOf" srcId="{2B689458-395C-4CD2-B2F5-EDA84F44257C}" destId="{A9AA5DCB-0CF1-4782-8A5D-77CE32F85370}" srcOrd="0" destOrd="0" presId="urn:microsoft.com/office/officeart/2016/7/layout/VerticalDownArrowProcess"/>
    <dgm:cxn modelId="{ACC74D1F-3C3B-4671-8EE9-F72C350C0316}" type="presOf" srcId="{76FE9B82-1E13-4B07-8159-2913ACAB4FAB}" destId="{4BA8215B-4747-4DA9-9C10-B11D3108773B}" srcOrd="0" destOrd="0" presId="urn:microsoft.com/office/officeart/2016/7/layout/VerticalDownArrowProcess"/>
    <dgm:cxn modelId="{9F35E42F-222D-4959-8D5A-498D9EAAB7C8}" type="presOf" srcId="{E7828DE0-39A7-4F1D-9311-FDAEEBE9F1F2}" destId="{95EF4C00-C036-4F46-8D38-AEDA3BA334F9}" srcOrd="0" destOrd="0" presId="urn:microsoft.com/office/officeart/2016/7/layout/VerticalDownArrowProcess"/>
    <dgm:cxn modelId="{87DE8E32-4EC9-4040-90CA-A0A4705F5DE7}" type="presOf" srcId="{F95B7A84-53DC-4F4B-9E89-86E68B8C3B5F}" destId="{DA7DEF82-39B9-49C5-932D-55A616740484}" srcOrd="1" destOrd="0" presId="urn:microsoft.com/office/officeart/2016/7/layout/VerticalDownArrowProcess"/>
    <dgm:cxn modelId="{4BAA1B62-A19A-49EC-9586-9F1FD5B84980}" type="presOf" srcId="{B7EDF539-FD96-477D-B3E6-9517E5F82F6C}" destId="{4F97157B-821C-4F7B-AB0D-6E7BDA01B7B3}" srcOrd="0" destOrd="0" presId="urn:microsoft.com/office/officeart/2016/7/layout/VerticalDownArrowProcess"/>
    <dgm:cxn modelId="{8E4E0748-77F1-48C5-9D8D-82F9387A6510}" srcId="{B7EDF539-FD96-477D-B3E6-9517E5F82F6C}" destId="{2B689458-395C-4CD2-B2F5-EDA84F44257C}" srcOrd="1" destOrd="0" parTransId="{C80E6B81-9D59-42E0-9D1A-CDAC7E19CB0D}" sibTransId="{5E2A38A0-16AC-40F4-B033-DB768E9969F7}"/>
    <dgm:cxn modelId="{D62C0B9E-87AD-4E26-AD58-07E3695654B3}" srcId="{E7828DE0-39A7-4F1D-9311-FDAEEBE9F1F2}" destId="{76FE9B82-1E13-4B07-8159-2913ACAB4FAB}" srcOrd="0" destOrd="0" parTransId="{8659EEFE-51A8-4555-B276-A1C1EF523223}" sibTransId="{79A91E54-CAD6-49E7-B2C3-148FEC6DB480}"/>
    <dgm:cxn modelId="{A80386A2-C803-43AB-BCAA-B8BB27DB0274}" srcId="{B7EDF539-FD96-477D-B3E6-9517E5F82F6C}" destId="{E7828DE0-39A7-4F1D-9311-FDAEEBE9F1F2}" srcOrd="2" destOrd="0" parTransId="{7E65CAC1-B5CB-4027-AFF0-AEB941005E0E}" sibTransId="{237A8766-FB96-487A-89C3-776F26AED9BC}"/>
    <dgm:cxn modelId="{8D71DFA9-EDA1-4D2E-AEA0-06002FE3292C}" type="presOf" srcId="{3B020571-D275-4683-8874-2C11D53CA415}" destId="{1A7CBA09-FB12-4A8D-A4CC-8962480E1D0D}" srcOrd="0" destOrd="0" presId="urn:microsoft.com/office/officeart/2016/7/layout/VerticalDownArrowProcess"/>
    <dgm:cxn modelId="{A8C36CD5-ACAB-4357-A272-91BD1B2592B0}" srcId="{2B689458-395C-4CD2-B2F5-EDA84F44257C}" destId="{C3416CD1-CE47-46D4-889E-6438002FE021}" srcOrd="0" destOrd="0" parTransId="{EEEE5852-6953-4190-93E0-2468CF5F2001}" sibTransId="{29160834-7345-48C7-8B0F-5B380CE7CD22}"/>
    <dgm:cxn modelId="{A66752F1-6863-4DEA-9BD0-2B1DA3B2D7E4}" srcId="{F95B7A84-53DC-4F4B-9E89-86E68B8C3B5F}" destId="{3B020571-D275-4683-8874-2C11D53CA415}" srcOrd="0" destOrd="0" parTransId="{61BC4A76-DC44-4ADD-8776-32F3469CFD38}" sibTransId="{7EB3BB89-1532-40F8-934A-4A012D2759BB}"/>
    <dgm:cxn modelId="{61CFADF8-2CFA-46F4-B602-622A76C2D853}" type="presOf" srcId="{2B689458-395C-4CD2-B2F5-EDA84F44257C}" destId="{85E7F736-E2F5-4429-A999-7AE0C79E0EDE}" srcOrd="1" destOrd="0" presId="urn:microsoft.com/office/officeart/2016/7/layout/VerticalDownArrowProcess"/>
    <dgm:cxn modelId="{627AA6F9-1EBB-4575-AE19-DEA61F52A524}" srcId="{B7EDF539-FD96-477D-B3E6-9517E5F82F6C}" destId="{F95B7A84-53DC-4F4B-9E89-86E68B8C3B5F}" srcOrd="0" destOrd="0" parTransId="{15BEF76E-271F-4EE6-B4CF-658B3B96F761}" sibTransId="{A0C776D8-912B-4F3D-99AD-B7EF84FCA962}"/>
    <dgm:cxn modelId="{7E5AAAF9-F67C-4F41-867E-BB05B5DF0CA5}" type="presOf" srcId="{C3416CD1-CE47-46D4-889E-6438002FE021}" destId="{D01CC3A5-DC55-4BBD-8309-40CF159B5BA7}" srcOrd="0" destOrd="0" presId="urn:microsoft.com/office/officeart/2016/7/layout/VerticalDownArrowProcess"/>
    <dgm:cxn modelId="{E66ED5EB-2681-4B58-AD13-225376481138}" type="presParOf" srcId="{4F97157B-821C-4F7B-AB0D-6E7BDA01B7B3}" destId="{BD68C7C7-511E-4663-A427-FDE8019E3455}" srcOrd="0" destOrd="0" presId="urn:microsoft.com/office/officeart/2016/7/layout/VerticalDownArrowProcess"/>
    <dgm:cxn modelId="{EFFE9924-C9EB-43FA-A121-DBF96090947B}" type="presParOf" srcId="{BD68C7C7-511E-4663-A427-FDE8019E3455}" destId="{95EF4C00-C036-4F46-8D38-AEDA3BA334F9}" srcOrd="0" destOrd="0" presId="urn:microsoft.com/office/officeart/2016/7/layout/VerticalDownArrowProcess"/>
    <dgm:cxn modelId="{7A331CA8-6F25-4B9C-A633-AD418D05A8EE}" type="presParOf" srcId="{BD68C7C7-511E-4663-A427-FDE8019E3455}" destId="{4BA8215B-4747-4DA9-9C10-B11D3108773B}" srcOrd="1" destOrd="0" presId="urn:microsoft.com/office/officeart/2016/7/layout/VerticalDownArrowProcess"/>
    <dgm:cxn modelId="{BFC5DB63-9AFF-46F5-BEDC-EB65A48D553D}" type="presParOf" srcId="{4F97157B-821C-4F7B-AB0D-6E7BDA01B7B3}" destId="{B218EC24-531E-4A9F-89D9-9AB9B3579321}" srcOrd="1" destOrd="0" presId="urn:microsoft.com/office/officeart/2016/7/layout/VerticalDownArrowProcess"/>
    <dgm:cxn modelId="{6B134BD1-6434-4AD9-9864-705E5ECDE0DB}" type="presParOf" srcId="{4F97157B-821C-4F7B-AB0D-6E7BDA01B7B3}" destId="{911EF3F6-34DF-49D7-BCF0-900D5DD9CE54}" srcOrd="2" destOrd="0" presId="urn:microsoft.com/office/officeart/2016/7/layout/VerticalDownArrowProcess"/>
    <dgm:cxn modelId="{0780D0F4-37B1-420E-BBDA-EF227372104D}" type="presParOf" srcId="{911EF3F6-34DF-49D7-BCF0-900D5DD9CE54}" destId="{A9AA5DCB-0CF1-4782-8A5D-77CE32F85370}" srcOrd="0" destOrd="0" presId="urn:microsoft.com/office/officeart/2016/7/layout/VerticalDownArrowProcess"/>
    <dgm:cxn modelId="{3AB4880D-E569-412A-B1E2-038D3C9A3E59}" type="presParOf" srcId="{911EF3F6-34DF-49D7-BCF0-900D5DD9CE54}" destId="{85E7F736-E2F5-4429-A999-7AE0C79E0EDE}" srcOrd="1" destOrd="0" presId="urn:microsoft.com/office/officeart/2016/7/layout/VerticalDownArrowProcess"/>
    <dgm:cxn modelId="{A1938ED9-B5EA-41DB-876A-FF591C4549D4}" type="presParOf" srcId="{911EF3F6-34DF-49D7-BCF0-900D5DD9CE54}" destId="{D01CC3A5-DC55-4BBD-8309-40CF159B5BA7}" srcOrd="2" destOrd="0" presId="urn:microsoft.com/office/officeart/2016/7/layout/VerticalDownArrowProcess"/>
    <dgm:cxn modelId="{7B2C94A1-CD41-424C-A8C5-2469C8599D5A}" type="presParOf" srcId="{4F97157B-821C-4F7B-AB0D-6E7BDA01B7B3}" destId="{B3560E2C-F423-442B-8210-EA4EA18A1D1C}" srcOrd="3" destOrd="0" presId="urn:microsoft.com/office/officeart/2016/7/layout/VerticalDownArrowProcess"/>
    <dgm:cxn modelId="{D8CE5A45-27D4-4F2B-8F6B-5874F0ACB580}" type="presParOf" srcId="{4F97157B-821C-4F7B-AB0D-6E7BDA01B7B3}" destId="{814D1917-A284-4EAC-B837-C5869794A61F}" srcOrd="4" destOrd="0" presId="urn:microsoft.com/office/officeart/2016/7/layout/VerticalDownArrowProcess"/>
    <dgm:cxn modelId="{DECA4A40-B15F-4DA8-8F47-7592D8803DA5}" type="presParOf" srcId="{814D1917-A284-4EAC-B837-C5869794A61F}" destId="{B4395EFF-FEB4-4C13-8304-8747FF5439D7}" srcOrd="0" destOrd="0" presId="urn:microsoft.com/office/officeart/2016/7/layout/VerticalDownArrowProcess"/>
    <dgm:cxn modelId="{24124F9A-363A-4636-B428-28D54F51C121}" type="presParOf" srcId="{814D1917-A284-4EAC-B837-C5869794A61F}" destId="{DA7DEF82-39B9-49C5-932D-55A616740484}" srcOrd="1" destOrd="0" presId="urn:microsoft.com/office/officeart/2016/7/layout/VerticalDownArrowProcess"/>
    <dgm:cxn modelId="{42BD0A13-39CC-4220-9699-E1EFA851E0A9}" type="presParOf" srcId="{814D1917-A284-4EAC-B837-C5869794A61F}" destId="{1A7CBA09-FB12-4A8D-A4CC-8962480E1D0D}" srcOrd="2" destOrd="0" presId="urn:microsoft.com/office/officeart/2016/7/layout/VerticalDown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495F43-B925-439D-9C88-930012B161AA}" type="doc">
      <dgm:prSet loTypeId="urn:microsoft.com/office/officeart/2016/7/layout/BasicLinearProcessNumbered" loCatId="process" qsTypeId="urn:microsoft.com/office/officeart/2005/8/quickstyle/simple1" qsCatId="simple" csTypeId="urn:microsoft.com/office/officeart/2005/8/colors/accent3_2" csCatId="accent3"/>
      <dgm:spPr/>
      <dgm:t>
        <a:bodyPr/>
        <a:lstStyle/>
        <a:p>
          <a:endParaRPr lang="en-US"/>
        </a:p>
      </dgm:t>
    </dgm:pt>
    <dgm:pt modelId="{528B965D-B9B9-4868-BF4D-0F9EE5B2F4C8}">
      <dgm:prSet/>
      <dgm:spPr/>
      <dgm:t>
        <a:bodyPr/>
        <a:lstStyle/>
        <a:p>
          <a:r>
            <a:rPr lang="en-US"/>
            <a:t>Unveiling Consumer Behaviour</a:t>
          </a:r>
        </a:p>
      </dgm:t>
    </dgm:pt>
    <dgm:pt modelId="{79C7B194-5F9B-47C7-B29B-20E86ED3C6E4}" type="parTrans" cxnId="{B6CBDA3C-40A8-492F-9A47-2A356671A488}">
      <dgm:prSet/>
      <dgm:spPr/>
      <dgm:t>
        <a:bodyPr/>
        <a:lstStyle/>
        <a:p>
          <a:endParaRPr lang="en-US"/>
        </a:p>
      </dgm:t>
    </dgm:pt>
    <dgm:pt modelId="{5C114514-D024-4DFF-89FA-987EEC030EC0}" type="sibTrans" cxnId="{B6CBDA3C-40A8-492F-9A47-2A356671A488}">
      <dgm:prSet phldrT="1" phldr="0"/>
      <dgm:spPr/>
      <dgm:t>
        <a:bodyPr/>
        <a:lstStyle/>
        <a:p>
          <a:r>
            <a:rPr lang="en-US"/>
            <a:t>1</a:t>
          </a:r>
        </a:p>
      </dgm:t>
    </dgm:pt>
    <dgm:pt modelId="{9B6ED918-C731-43A3-92E7-790E574BF850}">
      <dgm:prSet/>
      <dgm:spPr/>
      <dgm:t>
        <a:bodyPr/>
        <a:lstStyle/>
        <a:p>
          <a:r>
            <a:rPr lang="en-US"/>
            <a:t>Identifying Sales Trends</a:t>
          </a:r>
        </a:p>
      </dgm:t>
    </dgm:pt>
    <dgm:pt modelId="{7D87F930-47B4-4BBB-B891-C123360A3AD3}" type="parTrans" cxnId="{A19C7640-5F9C-4099-BDCD-B04448B85C0E}">
      <dgm:prSet/>
      <dgm:spPr/>
      <dgm:t>
        <a:bodyPr/>
        <a:lstStyle/>
        <a:p>
          <a:endParaRPr lang="en-US"/>
        </a:p>
      </dgm:t>
    </dgm:pt>
    <dgm:pt modelId="{75EAE03A-50B2-4CB4-BA7F-EF001570E46A}" type="sibTrans" cxnId="{A19C7640-5F9C-4099-BDCD-B04448B85C0E}">
      <dgm:prSet phldrT="2" phldr="0"/>
      <dgm:spPr/>
      <dgm:t>
        <a:bodyPr/>
        <a:lstStyle/>
        <a:p>
          <a:r>
            <a:rPr lang="en-US"/>
            <a:t>2</a:t>
          </a:r>
        </a:p>
      </dgm:t>
    </dgm:pt>
    <dgm:pt modelId="{35E14198-00A7-4D41-B17B-F3971D926559}">
      <dgm:prSet/>
      <dgm:spPr/>
      <dgm:t>
        <a:bodyPr/>
        <a:lstStyle/>
        <a:p>
          <a:r>
            <a:rPr lang="en-US"/>
            <a:t>Improving Market Strategies</a:t>
          </a:r>
        </a:p>
      </dgm:t>
    </dgm:pt>
    <dgm:pt modelId="{5F12193F-5E8E-4FDF-B3C4-C6FC6FE1B819}" type="parTrans" cxnId="{4E4E7B97-98C1-4504-8BD4-634D15E07F6F}">
      <dgm:prSet/>
      <dgm:spPr/>
      <dgm:t>
        <a:bodyPr/>
        <a:lstStyle/>
        <a:p>
          <a:endParaRPr lang="en-US"/>
        </a:p>
      </dgm:t>
    </dgm:pt>
    <dgm:pt modelId="{EDB410C1-D3D8-4299-BF72-7F975B3D2A38}" type="sibTrans" cxnId="{4E4E7B97-98C1-4504-8BD4-634D15E07F6F}">
      <dgm:prSet phldrT="3" phldr="0"/>
      <dgm:spPr/>
      <dgm:t>
        <a:bodyPr/>
        <a:lstStyle/>
        <a:p>
          <a:r>
            <a:rPr lang="en-US"/>
            <a:t>3</a:t>
          </a:r>
        </a:p>
      </dgm:t>
    </dgm:pt>
    <dgm:pt modelId="{4CCE6F11-E1D9-42F0-9626-5120E43E817A}" type="pres">
      <dgm:prSet presAssocID="{9E495F43-B925-439D-9C88-930012B161AA}" presName="Name0" presStyleCnt="0">
        <dgm:presLayoutVars>
          <dgm:animLvl val="lvl"/>
          <dgm:resizeHandles val="exact"/>
        </dgm:presLayoutVars>
      </dgm:prSet>
      <dgm:spPr/>
    </dgm:pt>
    <dgm:pt modelId="{9B804D65-D791-441E-9ACF-8543D03789DC}" type="pres">
      <dgm:prSet presAssocID="{528B965D-B9B9-4868-BF4D-0F9EE5B2F4C8}" presName="compositeNode" presStyleCnt="0">
        <dgm:presLayoutVars>
          <dgm:bulletEnabled val="1"/>
        </dgm:presLayoutVars>
      </dgm:prSet>
      <dgm:spPr/>
    </dgm:pt>
    <dgm:pt modelId="{90AF8EDC-FDD4-426F-A2A1-B547CAFFAE7F}" type="pres">
      <dgm:prSet presAssocID="{528B965D-B9B9-4868-BF4D-0F9EE5B2F4C8}" presName="bgRect" presStyleLbl="bgAccFollowNode1" presStyleIdx="0" presStyleCnt="3"/>
      <dgm:spPr/>
    </dgm:pt>
    <dgm:pt modelId="{93847C00-B351-4F1E-96CB-94183C148557}" type="pres">
      <dgm:prSet presAssocID="{5C114514-D024-4DFF-89FA-987EEC030EC0}" presName="sibTransNodeCircle" presStyleLbl="alignNode1" presStyleIdx="0" presStyleCnt="6">
        <dgm:presLayoutVars>
          <dgm:chMax val="0"/>
          <dgm:bulletEnabled/>
        </dgm:presLayoutVars>
      </dgm:prSet>
      <dgm:spPr/>
    </dgm:pt>
    <dgm:pt modelId="{31648414-D299-4F37-B1F0-2D78038C2C4E}" type="pres">
      <dgm:prSet presAssocID="{528B965D-B9B9-4868-BF4D-0F9EE5B2F4C8}" presName="bottomLine" presStyleLbl="alignNode1" presStyleIdx="1" presStyleCnt="6">
        <dgm:presLayoutVars/>
      </dgm:prSet>
      <dgm:spPr/>
    </dgm:pt>
    <dgm:pt modelId="{83960560-E60E-4881-9672-D20175B83043}" type="pres">
      <dgm:prSet presAssocID="{528B965D-B9B9-4868-BF4D-0F9EE5B2F4C8}" presName="nodeText" presStyleLbl="bgAccFollowNode1" presStyleIdx="0" presStyleCnt="3">
        <dgm:presLayoutVars>
          <dgm:bulletEnabled val="1"/>
        </dgm:presLayoutVars>
      </dgm:prSet>
      <dgm:spPr/>
    </dgm:pt>
    <dgm:pt modelId="{BA31D150-BF89-42E1-AAE3-2AE469B49C4C}" type="pres">
      <dgm:prSet presAssocID="{5C114514-D024-4DFF-89FA-987EEC030EC0}" presName="sibTrans" presStyleCnt="0"/>
      <dgm:spPr/>
    </dgm:pt>
    <dgm:pt modelId="{D6818DBA-98A5-4816-9696-F91FF8D36F98}" type="pres">
      <dgm:prSet presAssocID="{9B6ED918-C731-43A3-92E7-790E574BF850}" presName="compositeNode" presStyleCnt="0">
        <dgm:presLayoutVars>
          <dgm:bulletEnabled val="1"/>
        </dgm:presLayoutVars>
      </dgm:prSet>
      <dgm:spPr/>
    </dgm:pt>
    <dgm:pt modelId="{2C85963A-F351-40E8-A75F-3DE90E214929}" type="pres">
      <dgm:prSet presAssocID="{9B6ED918-C731-43A3-92E7-790E574BF850}" presName="bgRect" presStyleLbl="bgAccFollowNode1" presStyleIdx="1" presStyleCnt="3"/>
      <dgm:spPr/>
    </dgm:pt>
    <dgm:pt modelId="{205897ED-90FC-45E8-B787-B2FD9FCE28E4}" type="pres">
      <dgm:prSet presAssocID="{75EAE03A-50B2-4CB4-BA7F-EF001570E46A}" presName="sibTransNodeCircle" presStyleLbl="alignNode1" presStyleIdx="2" presStyleCnt="6">
        <dgm:presLayoutVars>
          <dgm:chMax val="0"/>
          <dgm:bulletEnabled/>
        </dgm:presLayoutVars>
      </dgm:prSet>
      <dgm:spPr/>
    </dgm:pt>
    <dgm:pt modelId="{5F37FAEB-6777-4E60-9407-FA4B3DC71DD7}" type="pres">
      <dgm:prSet presAssocID="{9B6ED918-C731-43A3-92E7-790E574BF850}" presName="bottomLine" presStyleLbl="alignNode1" presStyleIdx="3" presStyleCnt="6">
        <dgm:presLayoutVars/>
      </dgm:prSet>
      <dgm:spPr/>
    </dgm:pt>
    <dgm:pt modelId="{2D33468B-B1E8-4F40-B711-1B9A24BDF58E}" type="pres">
      <dgm:prSet presAssocID="{9B6ED918-C731-43A3-92E7-790E574BF850}" presName="nodeText" presStyleLbl="bgAccFollowNode1" presStyleIdx="1" presStyleCnt="3">
        <dgm:presLayoutVars>
          <dgm:bulletEnabled val="1"/>
        </dgm:presLayoutVars>
      </dgm:prSet>
      <dgm:spPr/>
    </dgm:pt>
    <dgm:pt modelId="{F1C5A529-772C-456C-8320-DF1D34A906F9}" type="pres">
      <dgm:prSet presAssocID="{75EAE03A-50B2-4CB4-BA7F-EF001570E46A}" presName="sibTrans" presStyleCnt="0"/>
      <dgm:spPr/>
    </dgm:pt>
    <dgm:pt modelId="{BBA61A57-50F6-466C-BE73-BAD17BA69311}" type="pres">
      <dgm:prSet presAssocID="{35E14198-00A7-4D41-B17B-F3971D926559}" presName="compositeNode" presStyleCnt="0">
        <dgm:presLayoutVars>
          <dgm:bulletEnabled val="1"/>
        </dgm:presLayoutVars>
      </dgm:prSet>
      <dgm:spPr/>
    </dgm:pt>
    <dgm:pt modelId="{1BEDB3F9-3318-4827-B586-D8A52DA4E6C6}" type="pres">
      <dgm:prSet presAssocID="{35E14198-00A7-4D41-B17B-F3971D926559}" presName="bgRect" presStyleLbl="bgAccFollowNode1" presStyleIdx="2" presStyleCnt="3"/>
      <dgm:spPr/>
    </dgm:pt>
    <dgm:pt modelId="{F36A4A9B-97F2-49AA-B1B8-3EB1C357D8E2}" type="pres">
      <dgm:prSet presAssocID="{EDB410C1-D3D8-4299-BF72-7F975B3D2A38}" presName="sibTransNodeCircle" presStyleLbl="alignNode1" presStyleIdx="4" presStyleCnt="6">
        <dgm:presLayoutVars>
          <dgm:chMax val="0"/>
          <dgm:bulletEnabled/>
        </dgm:presLayoutVars>
      </dgm:prSet>
      <dgm:spPr/>
    </dgm:pt>
    <dgm:pt modelId="{0FEECD36-E7A2-4872-851D-02632C4980D3}" type="pres">
      <dgm:prSet presAssocID="{35E14198-00A7-4D41-B17B-F3971D926559}" presName="bottomLine" presStyleLbl="alignNode1" presStyleIdx="5" presStyleCnt="6">
        <dgm:presLayoutVars/>
      </dgm:prSet>
      <dgm:spPr/>
    </dgm:pt>
    <dgm:pt modelId="{B57783A4-7FCB-4D6E-B190-376276DBCA74}" type="pres">
      <dgm:prSet presAssocID="{35E14198-00A7-4D41-B17B-F3971D926559}" presName="nodeText" presStyleLbl="bgAccFollowNode1" presStyleIdx="2" presStyleCnt="3">
        <dgm:presLayoutVars>
          <dgm:bulletEnabled val="1"/>
        </dgm:presLayoutVars>
      </dgm:prSet>
      <dgm:spPr/>
    </dgm:pt>
  </dgm:ptLst>
  <dgm:cxnLst>
    <dgm:cxn modelId="{23084407-DEC3-4442-8AB2-E1D5934DEA06}" type="presOf" srcId="{9E495F43-B925-439D-9C88-930012B161AA}" destId="{4CCE6F11-E1D9-42F0-9626-5120E43E817A}" srcOrd="0" destOrd="0" presId="urn:microsoft.com/office/officeart/2016/7/layout/BasicLinearProcessNumbered"/>
    <dgm:cxn modelId="{EDDF8E21-7EA0-4BA1-809E-5AF9D20149BE}" type="presOf" srcId="{75EAE03A-50B2-4CB4-BA7F-EF001570E46A}" destId="{205897ED-90FC-45E8-B787-B2FD9FCE28E4}" srcOrd="0" destOrd="0" presId="urn:microsoft.com/office/officeart/2016/7/layout/BasicLinearProcessNumbered"/>
    <dgm:cxn modelId="{A44BDC29-16D9-4A7C-9585-98FB1D287F62}" type="presOf" srcId="{35E14198-00A7-4D41-B17B-F3971D926559}" destId="{1BEDB3F9-3318-4827-B586-D8A52DA4E6C6}" srcOrd="0" destOrd="0" presId="urn:microsoft.com/office/officeart/2016/7/layout/BasicLinearProcessNumbered"/>
    <dgm:cxn modelId="{B6CBDA3C-40A8-492F-9A47-2A356671A488}" srcId="{9E495F43-B925-439D-9C88-930012B161AA}" destId="{528B965D-B9B9-4868-BF4D-0F9EE5B2F4C8}" srcOrd="0" destOrd="0" parTransId="{79C7B194-5F9B-47C7-B29B-20E86ED3C6E4}" sibTransId="{5C114514-D024-4DFF-89FA-987EEC030EC0}"/>
    <dgm:cxn modelId="{A19C7640-5F9C-4099-BDCD-B04448B85C0E}" srcId="{9E495F43-B925-439D-9C88-930012B161AA}" destId="{9B6ED918-C731-43A3-92E7-790E574BF850}" srcOrd="1" destOrd="0" parTransId="{7D87F930-47B4-4BBB-B891-C123360A3AD3}" sibTransId="{75EAE03A-50B2-4CB4-BA7F-EF001570E46A}"/>
    <dgm:cxn modelId="{3809E140-697B-464B-B03B-0F1A3C0E3C55}" type="presOf" srcId="{528B965D-B9B9-4868-BF4D-0F9EE5B2F4C8}" destId="{83960560-E60E-4881-9672-D20175B83043}" srcOrd="1" destOrd="0" presId="urn:microsoft.com/office/officeart/2016/7/layout/BasicLinearProcessNumbered"/>
    <dgm:cxn modelId="{4FCCE140-9348-4457-969C-B2EA0DDB2EC5}" type="presOf" srcId="{35E14198-00A7-4D41-B17B-F3971D926559}" destId="{B57783A4-7FCB-4D6E-B190-376276DBCA74}" srcOrd="1" destOrd="0" presId="urn:microsoft.com/office/officeart/2016/7/layout/BasicLinearProcessNumbered"/>
    <dgm:cxn modelId="{7BEE9E48-CE67-44D1-8317-8A06296C299C}" type="presOf" srcId="{5C114514-D024-4DFF-89FA-987EEC030EC0}" destId="{93847C00-B351-4F1E-96CB-94183C148557}" srcOrd="0" destOrd="0" presId="urn:microsoft.com/office/officeart/2016/7/layout/BasicLinearProcessNumbered"/>
    <dgm:cxn modelId="{C7BC3E72-52AD-43CE-AB50-56E10A519690}" type="presOf" srcId="{EDB410C1-D3D8-4299-BF72-7F975B3D2A38}" destId="{F36A4A9B-97F2-49AA-B1B8-3EB1C357D8E2}" srcOrd="0" destOrd="0" presId="urn:microsoft.com/office/officeart/2016/7/layout/BasicLinearProcessNumbered"/>
    <dgm:cxn modelId="{734B3E8C-B3A5-44F4-AE1B-725FEEF3C73F}" type="presOf" srcId="{9B6ED918-C731-43A3-92E7-790E574BF850}" destId="{2D33468B-B1E8-4F40-B711-1B9A24BDF58E}" srcOrd="1" destOrd="0" presId="urn:microsoft.com/office/officeart/2016/7/layout/BasicLinearProcessNumbered"/>
    <dgm:cxn modelId="{4E4E7B97-98C1-4504-8BD4-634D15E07F6F}" srcId="{9E495F43-B925-439D-9C88-930012B161AA}" destId="{35E14198-00A7-4D41-B17B-F3971D926559}" srcOrd="2" destOrd="0" parTransId="{5F12193F-5E8E-4FDF-B3C4-C6FC6FE1B819}" sibTransId="{EDB410C1-D3D8-4299-BF72-7F975B3D2A38}"/>
    <dgm:cxn modelId="{1A7534A2-930A-4DB6-88E9-7C19DB1FE17F}" type="presOf" srcId="{528B965D-B9B9-4868-BF4D-0F9EE5B2F4C8}" destId="{90AF8EDC-FDD4-426F-A2A1-B547CAFFAE7F}" srcOrd="0" destOrd="0" presId="urn:microsoft.com/office/officeart/2016/7/layout/BasicLinearProcessNumbered"/>
    <dgm:cxn modelId="{FD9BB0E7-0A83-4D4E-B21F-3630F10BD46E}" type="presOf" srcId="{9B6ED918-C731-43A3-92E7-790E574BF850}" destId="{2C85963A-F351-40E8-A75F-3DE90E214929}" srcOrd="0" destOrd="0" presId="urn:microsoft.com/office/officeart/2016/7/layout/BasicLinearProcessNumbered"/>
    <dgm:cxn modelId="{B8C4912E-FBEC-4AB7-A94F-E7E58BA2593C}" type="presParOf" srcId="{4CCE6F11-E1D9-42F0-9626-5120E43E817A}" destId="{9B804D65-D791-441E-9ACF-8543D03789DC}" srcOrd="0" destOrd="0" presId="urn:microsoft.com/office/officeart/2016/7/layout/BasicLinearProcessNumbered"/>
    <dgm:cxn modelId="{80666B59-8794-4FB7-88FF-EAB3D3AC53DB}" type="presParOf" srcId="{9B804D65-D791-441E-9ACF-8543D03789DC}" destId="{90AF8EDC-FDD4-426F-A2A1-B547CAFFAE7F}" srcOrd="0" destOrd="0" presId="urn:microsoft.com/office/officeart/2016/7/layout/BasicLinearProcessNumbered"/>
    <dgm:cxn modelId="{E2CF2255-1939-417A-953B-2B1362B5568B}" type="presParOf" srcId="{9B804D65-D791-441E-9ACF-8543D03789DC}" destId="{93847C00-B351-4F1E-96CB-94183C148557}" srcOrd="1" destOrd="0" presId="urn:microsoft.com/office/officeart/2016/7/layout/BasicLinearProcessNumbered"/>
    <dgm:cxn modelId="{88B5C7B2-CD67-4413-967E-C57316C10A76}" type="presParOf" srcId="{9B804D65-D791-441E-9ACF-8543D03789DC}" destId="{31648414-D299-4F37-B1F0-2D78038C2C4E}" srcOrd="2" destOrd="0" presId="urn:microsoft.com/office/officeart/2016/7/layout/BasicLinearProcessNumbered"/>
    <dgm:cxn modelId="{B19001B0-26B1-4C83-9161-537A33A416CC}" type="presParOf" srcId="{9B804D65-D791-441E-9ACF-8543D03789DC}" destId="{83960560-E60E-4881-9672-D20175B83043}" srcOrd="3" destOrd="0" presId="urn:microsoft.com/office/officeart/2016/7/layout/BasicLinearProcessNumbered"/>
    <dgm:cxn modelId="{93578AB0-CDA2-4CEB-BEE2-BDE5307BCA02}" type="presParOf" srcId="{4CCE6F11-E1D9-42F0-9626-5120E43E817A}" destId="{BA31D150-BF89-42E1-AAE3-2AE469B49C4C}" srcOrd="1" destOrd="0" presId="urn:microsoft.com/office/officeart/2016/7/layout/BasicLinearProcessNumbered"/>
    <dgm:cxn modelId="{562E9C6F-5FB8-4343-BEE0-7C03A42B45C3}" type="presParOf" srcId="{4CCE6F11-E1D9-42F0-9626-5120E43E817A}" destId="{D6818DBA-98A5-4816-9696-F91FF8D36F98}" srcOrd="2" destOrd="0" presId="urn:microsoft.com/office/officeart/2016/7/layout/BasicLinearProcessNumbered"/>
    <dgm:cxn modelId="{AB887028-FAB8-4725-9648-A1A293795C97}" type="presParOf" srcId="{D6818DBA-98A5-4816-9696-F91FF8D36F98}" destId="{2C85963A-F351-40E8-A75F-3DE90E214929}" srcOrd="0" destOrd="0" presId="urn:microsoft.com/office/officeart/2016/7/layout/BasicLinearProcessNumbered"/>
    <dgm:cxn modelId="{CFAC1D9B-D8EE-4B40-A1DF-E8F741254D1C}" type="presParOf" srcId="{D6818DBA-98A5-4816-9696-F91FF8D36F98}" destId="{205897ED-90FC-45E8-B787-B2FD9FCE28E4}" srcOrd="1" destOrd="0" presId="urn:microsoft.com/office/officeart/2016/7/layout/BasicLinearProcessNumbered"/>
    <dgm:cxn modelId="{788512AB-0343-4C27-841D-56BEA3FE47CD}" type="presParOf" srcId="{D6818DBA-98A5-4816-9696-F91FF8D36F98}" destId="{5F37FAEB-6777-4E60-9407-FA4B3DC71DD7}" srcOrd="2" destOrd="0" presId="urn:microsoft.com/office/officeart/2016/7/layout/BasicLinearProcessNumbered"/>
    <dgm:cxn modelId="{505F287A-8023-437A-87D0-C4FD16023B72}" type="presParOf" srcId="{D6818DBA-98A5-4816-9696-F91FF8D36F98}" destId="{2D33468B-B1E8-4F40-B711-1B9A24BDF58E}" srcOrd="3" destOrd="0" presId="urn:microsoft.com/office/officeart/2016/7/layout/BasicLinearProcessNumbered"/>
    <dgm:cxn modelId="{E8102F45-A090-4890-968A-EFE66C84647B}" type="presParOf" srcId="{4CCE6F11-E1D9-42F0-9626-5120E43E817A}" destId="{F1C5A529-772C-456C-8320-DF1D34A906F9}" srcOrd="3" destOrd="0" presId="urn:microsoft.com/office/officeart/2016/7/layout/BasicLinearProcessNumbered"/>
    <dgm:cxn modelId="{C0FA5AFE-0AF4-45BB-A2E9-0BE15783F633}" type="presParOf" srcId="{4CCE6F11-E1D9-42F0-9626-5120E43E817A}" destId="{BBA61A57-50F6-466C-BE73-BAD17BA69311}" srcOrd="4" destOrd="0" presId="urn:microsoft.com/office/officeart/2016/7/layout/BasicLinearProcessNumbered"/>
    <dgm:cxn modelId="{8F33E168-A2EE-457E-BD64-48C487708F16}" type="presParOf" srcId="{BBA61A57-50F6-466C-BE73-BAD17BA69311}" destId="{1BEDB3F9-3318-4827-B586-D8A52DA4E6C6}" srcOrd="0" destOrd="0" presId="urn:microsoft.com/office/officeart/2016/7/layout/BasicLinearProcessNumbered"/>
    <dgm:cxn modelId="{33107DFF-3EE6-4CD5-BB8B-B882E5331962}" type="presParOf" srcId="{BBA61A57-50F6-466C-BE73-BAD17BA69311}" destId="{F36A4A9B-97F2-49AA-B1B8-3EB1C357D8E2}" srcOrd="1" destOrd="0" presId="urn:microsoft.com/office/officeart/2016/7/layout/BasicLinearProcessNumbered"/>
    <dgm:cxn modelId="{B991F195-A7C8-4D65-AC3B-1D8144A7E904}" type="presParOf" srcId="{BBA61A57-50F6-466C-BE73-BAD17BA69311}" destId="{0FEECD36-E7A2-4872-851D-02632C4980D3}" srcOrd="2" destOrd="0" presId="urn:microsoft.com/office/officeart/2016/7/layout/BasicLinearProcessNumbered"/>
    <dgm:cxn modelId="{48992127-FC6D-44EE-A74A-E411B8570256}" type="presParOf" srcId="{BBA61A57-50F6-466C-BE73-BAD17BA69311}" destId="{B57783A4-7FCB-4D6E-B190-376276DBCA74}"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129FB5-B539-49D7-BD15-BADF828027F6}"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52200762-D7C9-4600-B4C4-0EBDB2790A87}">
      <dgm:prSet/>
      <dgm:spPr/>
      <dgm:t>
        <a:bodyPr/>
        <a:lstStyle/>
        <a:p>
          <a:r>
            <a:rPr lang="en-US"/>
            <a:t>The data shown in the Line-graph explains that people between the ages of 25-35 buy more during Black Friday sales than any other age group and the second  age group which buy more are in the age demographic of  35-45.</a:t>
          </a:r>
        </a:p>
      </dgm:t>
    </dgm:pt>
    <dgm:pt modelId="{C742C36F-8D6C-4734-BFF9-4DA9561C2F12}" type="parTrans" cxnId="{822032B2-C00E-4533-A64F-6D693DBADD3E}">
      <dgm:prSet/>
      <dgm:spPr/>
      <dgm:t>
        <a:bodyPr/>
        <a:lstStyle/>
        <a:p>
          <a:endParaRPr lang="en-US"/>
        </a:p>
      </dgm:t>
    </dgm:pt>
    <dgm:pt modelId="{49A42204-4A10-45DE-85C2-71C697E76C14}" type="sibTrans" cxnId="{822032B2-C00E-4533-A64F-6D693DBADD3E}">
      <dgm:prSet/>
      <dgm:spPr/>
      <dgm:t>
        <a:bodyPr/>
        <a:lstStyle/>
        <a:p>
          <a:endParaRPr lang="en-US"/>
        </a:p>
      </dgm:t>
    </dgm:pt>
    <dgm:pt modelId="{7B1B53A6-2934-44AC-A968-C97EE8E14587}">
      <dgm:prSet/>
      <dgm:spPr/>
      <dgm:t>
        <a:bodyPr/>
        <a:lstStyle/>
        <a:p>
          <a:r>
            <a:rPr lang="en-US"/>
            <a:t>This means that the majority of Black Friday sales come from individuals in the 25-35 age range.</a:t>
          </a:r>
        </a:p>
      </dgm:t>
    </dgm:pt>
    <dgm:pt modelId="{D5FE0A5C-4495-4B59-9677-831589947A97}" type="parTrans" cxnId="{C7FF61C8-B414-4144-84E9-3E2AF47939E3}">
      <dgm:prSet/>
      <dgm:spPr/>
      <dgm:t>
        <a:bodyPr/>
        <a:lstStyle/>
        <a:p>
          <a:endParaRPr lang="en-US"/>
        </a:p>
      </dgm:t>
    </dgm:pt>
    <dgm:pt modelId="{322D440A-554D-484A-AA6D-17C8270EC808}" type="sibTrans" cxnId="{C7FF61C8-B414-4144-84E9-3E2AF47939E3}">
      <dgm:prSet/>
      <dgm:spPr/>
      <dgm:t>
        <a:bodyPr/>
        <a:lstStyle/>
        <a:p>
          <a:endParaRPr lang="en-US"/>
        </a:p>
      </dgm:t>
    </dgm:pt>
    <dgm:pt modelId="{91AA917F-5D9D-4E40-BE3E-6ADF64DF59B5}">
      <dgm:prSet/>
      <dgm:spPr/>
      <dgm:t>
        <a:bodyPr/>
        <a:lstStyle/>
        <a:p>
          <a:r>
            <a:rPr lang="en-US"/>
            <a:t>This approach helps retailers concentrate on promoting products that sell well within two specific age groups for more sales.</a:t>
          </a:r>
        </a:p>
      </dgm:t>
    </dgm:pt>
    <dgm:pt modelId="{C8B509A6-1B6C-450F-8578-EC8A7A83683A}" type="parTrans" cxnId="{C73ABC91-4D93-4B80-97EF-BCD1D1905A32}">
      <dgm:prSet/>
      <dgm:spPr/>
      <dgm:t>
        <a:bodyPr/>
        <a:lstStyle/>
        <a:p>
          <a:endParaRPr lang="en-US"/>
        </a:p>
      </dgm:t>
    </dgm:pt>
    <dgm:pt modelId="{D2CE674F-170D-45AD-B528-16FAD05C0838}" type="sibTrans" cxnId="{C73ABC91-4D93-4B80-97EF-BCD1D1905A32}">
      <dgm:prSet/>
      <dgm:spPr/>
      <dgm:t>
        <a:bodyPr/>
        <a:lstStyle/>
        <a:p>
          <a:endParaRPr lang="en-US"/>
        </a:p>
      </dgm:t>
    </dgm:pt>
    <dgm:pt modelId="{61EB2239-CEC7-487F-A4D7-E981D3E92E49}" type="pres">
      <dgm:prSet presAssocID="{D3129FB5-B539-49D7-BD15-BADF828027F6}" presName="Name0" presStyleCnt="0">
        <dgm:presLayoutVars>
          <dgm:dir/>
          <dgm:animLvl val="lvl"/>
          <dgm:resizeHandles val="exact"/>
        </dgm:presLayoutVars>
      </dgm:prSet>
      <dgm:spPr/>
    </dgm:pt>
    <dgm:pt modelId="{7D65FD59-B69E-4CBF-8092-0DC02ACB60DF}" type="pres">
      <dgm:prSet presAssocID="{91AA917F-5D9D-4E40-BE3E-6ADF64DF59B5}" presName="boxAndChildren" presStyleCnt="0"/>
      <dgm:spPr/>
    </dgm:pt>
    <dgm:pt modelId="{FDDFFBD0-4A77-42C2-9F30-D24BFEDE4CD7}" type="pres">
      <dgm:prSet presAssocID="{91AA917F-5D9D-4E40-BE3E-6ADF64DF59B5}" presName="parentTextBox" presStyleLbl="node1" presStyleIdx="0" presStyleCnt="3"/>
      <dgm:spPr/>
    </dgm:pt>
    <dgm:pt modelId="{697BE94D-4735-4C5D-94AE-C84A1690F173}" type="pres">
      <dgm:prSet presAssocID="{322D440A-554D-484A-AA6D-17C8270EC808}" presName="sp" presStyleCnt="0"/>
      <dgm:spPr/>
    </dgm:pt>
    <dgm:pt modelId="{74C48B16-EB8E-4EBD-9517-561A9F79403A}" type="pres">
      <dgm:prSet presAssocID="{7B1B53A6-2934-44AC-A968-C97EE8E14587}" presName="arrowAndChildren" presStyleCnt="0"/>
      <dgm:spPr/>
    </dgm:pt>
    <dgm:pt modelId="{71D42DC6-5E96-4445-9498-C4173BADDFC8}" type="pres">
      <dgm:prSet presAssocID="{7B1B53A6-2934-44AC-A968-C97EE8E14587}" presName="parentTextArrow" presStyleLbl="node1" presStyleIdx="1" presStyleCnt="3"/>
      <dgm:spPr/>
    </dgm:pt>
    <dgm:pt modelId="{E2FC6A50-B9FF-4573-9CFA-50DC75AD6AA6}" type="pres">
      <dgm:prSet presAssocID="{49A42204-4A10-45DE-85C2-71C697E76C14}" presName="sp" presStyleCnt="0"/>
      <dgm:spPr/>
    </dgm:pt>
    <dgm:pt modelId="{3AB7B6F1-09FD-4180-828B-FDD7FF1E9887}" type="pres">
      <dgm:prSet presAssocID="{52200762-D7C9-4600-B4C4-0EBDB2790A87}" presName="arrowAndChildren" presStyleCnt="0"/>
      <dgm:spPr/>
    </dgm:pt>
    <dgm:pt modelId="{8B6355CB-CF0C-4ABF-BAAE-71D3E3878144}" type="pres">
      <dgm:prSet presAssocID="{52200762-D7C9-4600-B4C4-0EBDB2790A87}" presName="parentTextArrow" presStyleLbl="node1" presStyleIdx="2" presStyleCnt="3"/>
      <dgm:spPr/>
    </dgm:pt>
  </dgm:ptLst>
  <dgm:cxnLst>
    <dgm:cxn modelId="{7A5BAD2D-8AAC-49A0-B5FC-F1BFB890F5BE}" type="presOf" srcId="{7B1B53A6-2934-44AC-A968-C97EE8E14587}" destId="{71D42DC6-5E96-4445-9498-C4173BADDFC8}" srcOrd="0" destOrd="0" presId="urn:microsoft.com/office/officeart/2005/8/layout/process4"/>
    <dgm:cxn modelId="{1610B03B-61E6-417E-A653-ABE3953DF9D5}" type="presOf" srcId="{D3129FB5-B539-49D7-BD15-BADF828027F6}" destId="{61EB2239-CEC7-487F-A4D7-E981D3E92E49}" srcOrd="0" destOrd="0" presId="urn:microsoft.com/office/officeart/2005/8/layout/process4"/>
    <dgm:cxn modelId="{C73ABC91-4D93-4B80-97EF-BCD1D1905A32}" srcId="{D3129FB5-B539-49D7-BD15-BADF828027F6}" destId="{91AA917F-5D9D-4E40-BE3E-6ADF64DF59B5}" srcOrd="2" destOrd="0" parTransId="{C8B509A6-1B6C-450F-8578-EC8A7A83683A}" sibTransId="{D2CE674F-170D-45AD-B528-16FAD05C0838}"/>
    <dgm:cxn modelId="{822032B2-C00E-4533-A64F-6D693DBADD3E}" srcId="{D3129FB5-B539-49D7-BD15-BADF828027F6}" destId="{52200762-D7C9-4600-B4C4-0EBDB2790A87}" srcOrd="0" destOrd="0" parTransId="{C742C36F-8D6C-4734-BFF9-4DA9561C2F12}" sibTransId="{49A42204-4A10-45DE-85C2-71C697E76C14}"/>
    <dgm:cxn modelId="{C7FF61C8-B414-4144-84E9-3E2AF47939E3}" srcId="{D3129FB5-B539-49D7-BD15-BADF828027F6}" destId="{7B1B53A6-2934-44AC-A968-C97EE8E14587}" srcOrd="1" destOrd="0" parTransId="{D5FE0A5C-4495-4B59-9677-831589947A97}" sibTransId="{322D440A-554D-484A-AA6D-17C8270EC808}"/>
    <dgm:cxn modelId="{1564F6E8-6AA5-4524-9C30-C7B86D904C27}" type="presOf" srcId="{91AA917F-5D9D-4E40-BE3E-6ADF64DF59B5}" destId="{FDDFFBD0-4A77-42C2-9F30-D24BFEDE4CD7}" srcOrd="0" destOrd="0" presId="urn:microsoft.com/office/officeart/2005/8/layout/process4"/>
    <dgm:cxn modelId="{F3BDFBEC-2682-4D3A-AB27-1575B6F5B74B}" type="presOf" srcId="{52200762-D7C9-4600-B4C4-0EBDB2790A87}" destId="{8B6355CB-CF0C-4ABF-BAAE-71D3E3878144}" srcOrd="0" destOrd="0" presId="urn:microsoft.com/office/officeart/2005/8/layout/process4"/>
    <dgm:cxn modelId="{605FC4C3-CB4B-4206-B895-7BEAA392A4F7}" type="presParOf" srcId="{61EB2239-CEC7-487F-A4D7-E981D3E92E49}" destId="{7D65FD59-B69E-4CBF-8092-0DC02ACB60DF}" srcOrd="0" destOrd="0" presId="urn:microsoft.com/office/officeart/2005/8/layout/process4"/>
    <dgm:cxn modelId="{F190B8D7-0F68-4F48-B4E1-0C028016E797}" type="presParOf" srcId="{7D65FD59-B69E-4CBF-8092-0DC02ACB60DF}" destId="{FDDFFBD0-4A77-42C2-9F30-D24BFEDE4CD7}" srcOrd="0" destOrd="0" presId="urn:microsoft.com/office/officeart/2005/8/layout/process4"/>
    <dgm:cxn modelId="{2C79F2C1-B0D0-44F8-862C-5343D3BF91A3}" type="presParOf" srcId="{61EB2239-CEC7-487F-A4D7-E981D3E92E49}" destId="{697BE94D-4735-4C5D-94AE-C84A1690F173}" srcOrd="1" destOrd="0" presId="urn:microsoft.com/office/officeart/2005/8/layout/process4"/>
    <dgm:cxn modelId="{ED0078A0-B229-409D-9DE8-E5A45AA103D2}" type="presParOf" srcId="{61EB2239-CEC7-487F-A4D7-E981D3E92E49}" destId="{74C48B16-EB8E-4EBD-9517-561A9F79403A}" srcOrd="2" destOrd="0" presId="urn:microsoft.com/office/officeart/2005/8/layout/process4"/>
    <dgm:cxn modelId="{EA8F812A-F3C7-479D-BE36-61AB4BC941C0}" type="presParOf" srcId="{74C48B16-EB8E-4EBD-9517-561A9F79403A}" destId="{71D42DC6-5E96-4445-9498-C4173BADDFC8}" srcOrd="0" destOrd="0" presId="urn:microsoft.com/office/officeart/2005/8/layout/process4"/>
    <dgm:cxn modelId="{AE288535-8A89-493F-B868-B29B28EE9795}" type="presParOf" srcId="{61EB2239-CEC7-487F-A4D7-E981D3E92E49}" destId="{E2FC6A50-B9FF-4573-9CFA-50DC75AD6AA6}" srcOrd="3" destOrd="0" presId="urn:microsoft.com/office/officeart/2005/8/layout/process4"/>
    <dgm:cxn modelId="{331F2191-5D37-4434-AAC6-612AB435839E}" type="presParOf" srcId="{61EB2239-CEC7-487F-A4D7-E981D3E92E49}" destId="{3AB7B6F1-09FD-4180-828B-FDD7FF1E9887}" srcOrd="4" destOrd="0" presId="urn:microsoft.com/office/officeart/2005/8/layout/process4"/>
    <dgm:cxn modelId="{888708D1-2485-4477-8170-8D7D3FE79D36}" type="presParOf" srcId="{3AB7B6F1-09FD-4180-828B-FDD7FF1E9887}" destId="{8B6355CB-CF0C-4ABF-BAAE-71D3E3878144}"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29C8A2-C666-421E-B038-A6DA1E03352E}">
      <dsp:nvSpPr>
        <dsp:cNvPr id="0" name=""/>
        <dsp:cNvSpPr/>
      </dsp:nvSpPr>
      <dsp:spPr>
        <a:xfrm>
          <a:off x="0" y="450016"/>
          <a:ext cx="10515600" cy="15088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C05FD3-6D3F-4A7B-9A43-2886A430326F}">
      <dsp:nvSpPr>
        <dsp:cNvPr id="0" name=""/>
        <dsp:cNvSpPr/>
      </dsp:nvSpPr>
      <dsp:spPr>
        <a:xfrm>
          <a:off x="456435" y="789514"/>
          <a:ext cx="829883" cy="8298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9DD305-8953-43C4-9E57-11775A2C578E}">
      <dsp:nvSpPr>
        <dsp:cNvPr id="0" name=""/>
        <dsp:cNvSpPr/>
      </dsp:nvSpPr>
      <dsp:spPr>
        <a:xfrm>
          <a:off x="1742755" y="450016"/>
          <a:ext cx="8772844" cy="15088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690" tIns="159690" rIns="159690" bIns="159690" numCol="1" spcCol="1270" anchor="ctr" anchorCtr="0">
          <a:noAutofit/>
        </a:bodyPr>
        <a:lstStyle/>
        <a:p>
          <a:pPr marL="0" lvl="0" indent="0" algn="l" defTabSz="622300">
            <a:lnSpc>
              <a:spcPct val="90000"/>
            </a:lnSpc>
            <a:spcBef>
              <a:spcPct val="0"/>
            </a:spcBef>
            <a:spcAft>
              <a:spcPct val="35000"/>
            </a:spcAft>
            <a:buNone/>
          </a:pPr>
          <a:r>
            <a:rPr lang="en-US" sz="1400" b="0" kern="1200"/>
            <a:t>Every year, the Friday after thanksgiving ignites a global shopping frenzy known as black Friday. This retail deal day, born in the US, has </a:t>
          </a:r>
          <a:r>
            <a:rPr lang="en-US" sz="1400" b="0" kern="1200">
              <a:latin typeface="Aharoni"/>
            </a:rPr>
            <a:t>excited customers worldwide</a:t>
          </a:r>
          <a:r>
            <a:rPr lang="en-US" sz="1400" b="0" kern="1200"/>
            <a:t> with its promise of deals and offers. It’s the official launch of the holiday shopping season, where stores unleash their most tempting discounts, bargain hunters into savings on the products. But Black Friday evolved into a digital bonanza, with online stores offering virtual shopping. This shift has made deals more accessible, but it's also brought new challenges and opportunities for everyone involved.</a:t>
          </a:r>
        </a:p>
      </dsp:txBody>
      <dsp:txXfrm>
        <a:off x="1742755" y="450016"/>
        <a:ext cx="8772844" cy="1508879"/>
      </dsp:txXfrm>
    </dsp:sp>
    <dsp:sp modelId="{771AF982-265F-4F95-A0B9-49095521FEDD}">
      <dsp:nvSpPr>
        <dsp:cNvPr id="0" name=""/>
        <dsp:cNvSpPr/>
      </dsp:nvSpPr>
      <dsp:spPr>
        <a:xfrm>
          <a:off x="0" y="2276554"/>
          <a:ext cx="10515600" cy="15088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B326AF-BB41-49E9-AEBF-4F7A07AE75B9}">
      <dsp:nvSpPr>
        <dsp:cNvPr id="0" name=""/>
        <dsp:cNvSpPr/>
      </dsp:nvSpPr>
      <dsp:spPr>
        <a:xfrm>
          <a:off x="456435" y="2616052"/>
          <a:ext cx="829883" cy="8298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CE14DB-08D3-4359-941D-30B2C1DE3ED8}">
      <dsp:nvSpPr>
        <dsp:cNvPr id="0" name=""/>
        <dsp:cNvSpPr/>
      </dsp:nvSpPr>
      <dsp:spPr>
        <a:xfrm>
          <a:off x="1742755" y="2276554"/>
          <a:ext cx="8772844" cy="15088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690" tIns="159690" rIns="159690" bIns="159690" numCol="1" spcCol="1270" anchor="ctr" anchorCtr="0">
          <a:noAutofit/>
        </a:bodyPr>
        <a:lstStyle/>
        <a:p>
          <a:pPr marL="0" lvl="0" indent="0" algn="l" defTabSz="622300">
            <a:lnSpc>
              <a:spcPct val="90000"/>
            </a:lnSpc>
            <a:spcBef>
              <a:spcPct val="0"/>
            </a:spcBef>
            <a:spcAft>
              <a:spcPct val="35000"/>
            </a:spcAft>
            <a:buNone/>
          </a:pPr>
          <a:r>
            <a:rPr lang="en-US" sz="1400" b="0" kern="1200"/>
            <a:t>In this presentation, we will explore the Black Friday sales trends using Tableau data visualization to uncover valuable insights that can empower businesses. We will delve into the impact of various factors on sales and identify key patterns and trends.</a:t>
          </a:r>
        </a:p>
      </dsp:txBody>
      <dsp:txXfrm>
        <a:off x="1742755" y="2276554"/>
        <a:ext cx="8772844" cy="15088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EF4C00-C036-4F46-8D38-AEDA3BA334F9}">
      <dsp:nvSpPr>
        <dsp:cNvPr id="0" name=""/>
        <dsp:cNvSpPr/>
      </dsp:nvSpPr>
      <dsp:spPr>
        <a:xfrm>
          <a:off x="0" y="4062245"/>
          <a:ext cx="1440641" cy="1333319"/>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458" tIns="92456" rIns="102458" bIns="92456" numCol="1" spcCol="1270" anchor="ctr" anchorCtr="0">
          <a:noAutofit/>
        </a:bodyPr>
        <a:lstStyle/>
        <a:p>
          <a:pPr marL="0" lvl="0" indent="0" algn="ctr" defTabSz="577850">
            <a:lnSpc>
              <a:spcPct val="90000"/>
            </a:lnSpc>
            <a:spcBef>
              <a:spcPct val="0"/>
            </a:spcBef>
            <a:spcAft>
              <a:spcPct val="35000"/>
            </a:spcAft>
            <a:buNone/>
          </a:pPr>
          <a:r>
            <a:rPr lang="en-US" sz="1300" kern="1200"/>
            <a:t>Identify Key Metrics</a:t>
          </a:r>
        </a:p>
      </dsp:txBody>
      <dsp:txXfrm>
        <a:off x="0" y="4062245"/>
        <a:ext cx="1440641" cy="1333319"/>
      </dsp:txXfrm>
    </dsp:sp>
    <dsp:sp modelId="{4BA8215B-4747-4DA9-9C10-B11D3108773B}">
      <dsp:nvSpPr>
        <dsp:cNvPr id="0" name=""/>
        <dsp:cNvSpPr/>
      </dsp:nvSpPr>
      <dsp:spPr>
        <a:xfrm>
          <a:off x="1440641" y="4062245"/>
          <a:ext cx="4321923" cy="1333319"/>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69" tIns="165100" rIns="87669" bIns="165100" numCol="1" spcCol="1270" anchor="ctr" anchorCtr="0">
          <a:noAutofit/>
        </a:bodyPr>
        <a:lstStyle/>
        <a:p>
          <a:pPr marL="0" lvl="0" indent="0" algn="l" defTabSz="577850">
            <a:lnSpc>
              <a:spcPct val="90000"/>
            </a:lnSpc>
            <a:spcBef>
              <a:spcPct val="0"/>
            </a:spcBef>
            <a:spcAft>
              <a:spcPct val="35000"/>
            </a:spcAft>
            <a:buNone/>
          </a:pPr>
          <a:r>
            <a:rPr lang="en-US" sz="1300" kern="1200"/>
            <a:t>Define the key metrics for analysis may include total sales revenue, average purchase value and product specific performance</a:t>
          </a:r>
        </a:p>
      </dsp:txBody>
      <dsp:txXfrm>
        <a:off x="1440641" y="4062245"/>
        <a:ext cx="4321923" cy="1333319"/>
      </dsp:txXfrm>
    </dsp:sp>
    <dsp:sp modelId="{85E7F736-E2F5-4429-A999-7AE0C79E0EDE}">
      <dsp:nvSpPr>
        <dsp:cNvPr id="0" name=""/>
        <dsp:cNvSpPr/>
      </dsp:nvSpPr>
      <dsp:spPr>
        <a:xfrm rot="10800000">
          <a:off x="0" y="2031599"/>
          <a:ext cx="1440641" cy="2050645"/>
        </a:xfrm>
        <a:prstGeom prst="upArrowCallout">
          <a:avLst>
            <a:gd name="adj1" fmla="val 5000"/>
            <a:gd name="adj2" fmla="val 10000"/>
            <a:gd name="adj3" fmla="val 15000"/>
            <a:gd name="adj4" fmla="val 64977"/>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458" tIns="92456" rIns="102458" bIns="92456" numCol="1" spcCol="1270" anchor="ctr" anchorCtr="0">
          <a:noAutofit/>
        </a:bodyPr>
        <a:lstStyle/>
        <a:p>
          <a:pPr marL="0" lvl="0" indent="0" algn="ctr" defTabSz="577850" rtl="0">
            <a:lnSpc>
              <a:spcPct val="90000"/>
            </a:lnSpc>
            <a:spcBef>
              <a:spcPct val="0"/>
            </a:spcBef>
            <a:spcAft>
              <a:spcPct val="35000"/>
            </a:spcAft>
            <a:buNone/>
          </a:pPr>
          <a:r>
            <a:rPr lang="en-US" sz="1300" kern="1200"/>
            <a:t>Data </a:t>
          </a:r>
          <a:r>
            <a:rPr lang="en-US" sz="1300" kern="1200">
              <a:latin typeface="Aharoni"/>
            </a:rPr>
            <a:t>Understanding</a:t>
          </a:r>
        </a:p>
      </dsp:txBody>
      <dsp:txXfrm rot="-10800000">
        <a:off x="0" y="2031599"/>
        <a:ext cx="1440641" cy="1332919"/>
      </dsp:txXfrm>
    </dsp:sp>
    <dsp:sp modelId="{D01CC3A5-DC55-4BBD-8309-40CF159B5BA7}">
      <dsp:nvSpPr>
        <dsp:cNvPr id="0" name=""/>
        <dsp:cNvSpPr/>
      </dsp:nvSpPr>
      <dsp:spPr>
        <a:xfrm>
          <a:off x="1440641" y="2031599"/>
          <a:ext cx="4321923" cy="1332919"/>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69" tIns="165100" rIns="87669" bIns="165100" numCol="1" spcCol="1270" anchor="ctr" anchorCtr="0">
          <a:noAutofit/>
        </a:bodyPr>
        <a:lstStyle/>
        <a:p>
          <a:pPr marL="0" lvl="0" indent="0" algn="l" defTabSz="577850" rtl="0">
            <a:lnSpc>
              <a:spcPct val="90000"/>
            </a:lnSpc>
            <a:spcBef>
              <a:spcPct val="0"/>
            </a:spcBef>
            <a:spcAft>
              <a:spcPct val="35000"/>
            </a:spcAft>
            <a:buNone/>
          </a:pPr>
          <a:r>
            <a:rPr lang="en-US" sz="1300" kern="1200">
              <a:solidFill>
                <a:srgbClr val="000000"/>
              </a:solidFill>
            </a:rPr>
            <a:t> Examine the data variables like product categories, purchase amounts, and customer demographics</a:t>
          </a:r>
          <a:endParaRPr lang="en-US" sz="1300" kern="1200">
            <a:latin typeface="Aharoni"/>
          </a:endParaRPr>
        </a:p>
      </dsp:txBody>
      <dsp:txXfrm>
        <a:off x="1440641" y="2031599"/>
        <a:ext cx="4321923" cy="1332919"/>
      </dsp:txXfrm>
    </dsp:sp>
    <dsp:sp modelId="{DA7DEF82-39B9-49C5-932D-55A616740484}">
      <dsp:nvSpPr>
        <dsp:cNvPr id="0" name=""/>
        <dsp:cNvSpPr/>
      </dsp:nvSpPr>
      <dsp:spPr>
        <a:xfrm rot="10800000">
          <a:off x="0" y="953"/>
          <a:ext cx="1440641" cy="2050645"/>
        </a:xfrm>
        <a:prstGeom prst="upArrowCallout">
          <a:avLst>
            <a:gd name="adj1" fmla="val 5000"/>
            <a:gd name="adj2" fmla="val 10000"/>
            <a:gd name="adj3" fmla="val 15000"/>
            <a:gd name="adj4" fmla="val 64977"/>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458" tIns="92456" rIns="102458" bIns="92456" numCol="1" spcCol="1270" anchor="ctr" anchorCtr="0">
          <a:noAutofit/>
        </a:bodyPr>
        <a:lstStyle/>
        <a:p>
          <a:pPr marL="0" lvl="0" indent="0" algn="ctr" defTabSz="577850">
            <a:lnSpc>
              <a:spcPct val="90000"/>
            </a:lnSpc>
            <a:spcBef>
              <a:spcPct val="0"/>
            </a:spcBef>
            <a:spcAft>
              <a:spcPct val="35000"/>
            </a:spcAft>
            <a:buNone/>
          </a:pPr>
          <a:r>
            <a:rPr lang="en-US" sz="1300" kern="1200"/>
            <a:t>Data Source</a:t>
          </a:r>
        </a:p>
      </dsp:txBody>
      <dsp:txXfrm rot="-10800000">
        <a:off x="0" y="953"/>
        <a:ext cx="1440641" cy="1332919"/>
      </dsp:txXfrm>
    </dsp:sp>
    <dsp:sp modelId="{1A7CBA09-FB12-4A8D-A4CC-8962480E1D0D}">
      <dsp:nvSpPr>
        <dsp:cNvPr id="0" name=""/>
        <dsp:cNvSpPr/>
      </dsp:nvSpPr>
      <dsp:spPr>
        <a:xfrm>
          <a:off x="1440641" y="953"/>
          <a:ext cx="4321923" cy="1332919"/>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69" tIns="165100" rIns="87669" bIns="165100" numCol="1" spcCol="1270" anchor="ctr" anchorCtr="0">
          <a:noAutofit/>
        </a:bodyPr>
        <a:lstStyle/>
        <a:p>
          <a:pPr marL="0" lvl="0" indent="0" algn="l" defTabSz="577850">
            <a:lnSpc>
              <a:spcPct val="90000"/>
            </a:lnSpc>
            <a:spcBef>
              <a:spcPct val="0"/>
            </a:spcBef>
            <a:spcAft>
              <a:spcPct val="35000"/>
            </a:spcAft>
            <a:buNone/>
          </a:pPr>
          <a:r>
            <a:rPr lang="en-US" sz="1300" kern="1200"/>
            <a:t>Kaggle is the source of the data and it contains variables like customer demographics such as city type, gender, age, martial status, stay in the current city, product details, categories, and purchase amount.</a:t>
          </a:r>
        </a:p>
      </dsp:txBody>
      <dsp:txXfrm>
        <a:off x="1440641" y="953"/>
        <a:ext cx="4321923" cy="13329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F8EDC-FDD4-426F-A2A1-B547CAFFAE7F}">
      <dsp:nvSpPr>
        <dsp:cNvPr id="0" name=""/>
        <dsp:cNvSpPr/>
      </dsp:nvSpPr>
      <dsp:spPr>
        <a:xfrm>
          <a:off x="0" y="0"/>
          <a:ext cx="3286125" cy="4235450"/>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90000"/>
            </a:lnSpc>
            <a:spcBef>
              <a:spcPct val="0"/>
            </a:spcBef>
            <a:spcAft>
              <a:spcPct val="35000"/>
            </a:spcAft>
            <a:buNone/>
          </a:pPr>
          <a:r>
            <a:rPr lang="en-US" sz="2600" kern="1200"/>
            <a:t>Unveiling Consumer Behaviour</a:t>
          </a:r>
        </a:p>
      </dsp:txBody>
      <dsp:txXfrm>
        <a:off x="0" y="1609471"/>
        <a:ext cx="3286125" cy="2541270"/>
      </dsp:txXfrm>
    </dsp:sp>
    <dsp:sp modelId="{93847C00-B351-4F1E-96CB-94183C148557}">
      <dsp:nvSpPr>
        <dsp:cNvPr id="0" name=""/>
        <dsp:cNvSpPr/>
      </dsp:nvSpPr>
      <dsp:spPr>
        <a:xfrm>
          <a:off x="1007744" y="423544"/>
          <a:ext cx="1270635" cy="127063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4" tIns="12700" rIns="9906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93824" y="609624"/>
        <a:ext cx="898475" cy="898475"/>
      </dsp:txXfrm>
    </dsp:sp>
    <dsp:sp modelId="{31648414-D299-4F37-B1F0-2D78038C2C4E}">
      <dsp:nvSpPr>
        <dsp:cNvPr id="0" name=""/>
        <dsp:cNvSpPr/>
      </dsp:nvSpPr>
      <dsp:spPr>
        <a:xfrm>
          <a:off x="0" y="4235378"/>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85963A-F351-40E8-A75F-3DE90E214929}">
      <dsp:nvSpPr>
        <dsp:cNvPr id="0" name=""/>
        <dsp:cNvSpPr/>
      </dsp:nvSpPr>
      <dsp:spPr>
        <a:xfrm>
          <a:off x="3614737" y="0"/>
          <a:ext cx="3286125" cy="4235450"/>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90000"/>
            </a:lnSpc>
            <a:spcBef>
              <a:spcPct val="0"/>
            </a:spcBef>
            <a:spcAft>
              <a:spcPct val="35000"/>
            </a:spcAft>
            <a:buNone/>
          </a:pPr>
          <a:r>
            <a:rPr lang="en-US" sz="2600" kern="1200"/>
            <a:t>Identifying Sales Trends</a:t>
          </a:r>
        </a:p>
      </dsp:txBody>
      <dsp:txXfrm>
        <a:off x="3614737" y="1609471"/>
        <a:ext cx="3286125" cy="2541270"/>
      </dsp:txXfrm>
    </dsp:sp>
    <dsp:sp modelId="{205897ED-90FC-45E8-B787-B2FD9FCE28E4}">
      <dsp:nvSpPr>
        <dsp:cNvPr id="0" name=""/>
        <dsp:cNvSpPr/>
      </dsp:nvSpPr>
      <dsp:spPr>
        <a:xfrm>
          <a:off x="4622482" y="423544"/>
          <a:ext cx="1270635" cy="127063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4" tIns="12700" rIns="9906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808562" y="609624"/>
        <a:ext cx="898475" cy="898475"/>
      </dsp:txXfrm>
    </dsp:sp>
    <dsp:sp modelId="{5F37FAEB-6777-4E60-9407-FA4B3DC71DD7}">
      <dsp:nvSpPr>
        <dsp:cNvPr id="0" name=""/>
        <dsp:cNvSpPr/>
      </dsp:nvSpPr>
      <dsp:spPr>
        <a:xfrm>
          <a:off x="3614737" y="4235378"/>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EDB3F9-3318-4827-B586-D8A52DA4E6C6}">
      <dsp:nvSpPr>
        <dsp:cNvPr id="0" name=""/>
        <dsp:cNvSpPr/>
      </dsp:nvSpPr>
      <dsp:spPr>
        <a:xfrm>
          <a:off x="7229475" y="0"/>
          <a:ext cx="3286125" cy="4235450"/>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1155700">
            <a:lnSpc>
              <a:spcPct val="90000"/>
            </a:lnSpc>
            <a:spcBef>
              <a:spcPct val="0"/>
            </a:spcBef>
            <a:spcAft>
              <a:spcPct val="35000"/>
            </a:spcAft>
            <a:buNone/>
          </a:pPr>
          <a:r>
            <a:rPr lang="en-US" sz="2600" kern="1200"/>
            <a:t>Improving Market Strategies</a:t>
          </a:r>
        </a:p>
      </dsp:txBody>
      <dsp:txXfrm>
        <a:off x="7229475" y="1609471"/>
        <a:ext cx="3286125" cy="2541270"/>
      </dsp:txXfrm>
    </dsp:sp>
    <dsp:sp modelId="{F36A4A9B-97F2-49AA-B1B8-3EB1C357D8E2}">
      <dsp:nvSpPr>
        <dsp:cNvPr id="0" name=""/>
        <dsp:cNvSpPr/>
      </dsp:nvSpPr>
      <dsp:spPr>
        <a:xfrm>
          <a:off x="8237220" y="423544"/>
          <a:ext cx="1270635" cy="1270635"/>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4" tIns="12700" rIns="9906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23300" y="609624"/>
        <a:ext cx="898475" cy="898475"/>
      </dsp:txXfrm>
    </dsp:sp>
    <dsp:sp modelId="{0FEECD36-E7A2-4872-851D-02632C4980D3}">
      <dsp:nvSpPr>
        <dsp:cNvPr id="0" name=""/>
        <dsp:cNvSpPr/>
      </dsp:nvSpPr>
      <dsp:spPr>
        <a:xfrm>
          <a:off x="7229475" y="4235378"/>
          <a:ext cx="3286125"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FFBD0-4A77-42C2-9F30-D24BFEDE4CD7}">
      <dsp:nvSpPr>
        <dsp:cNvPr id="0" name=""/>
        <dsp:cNvSpPr/>
      </dsp:nvSpPr>
      <dsp:spPr>
        <a:xfrm>
          <a:off x="0" y="3795578"/>
          <a:ext cx="4380172" cy="124579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This approach helps retailers concentrate on promoting products that sell well within two specific age groups for more sales.</a:t>
          </a:r>
        </a:p>
      </dsp:txBody>
      <dsp:txXfrm>
        <a:off x="0" y="3795578"/>
        <a:ext cx="4380172" cy="1245793"/>
      </dsp:txXfrm>
    </dsp:sp>
    <dsp:sp modelId="{71D42DC6-5E96-4445-9498-C4173BADDFC8}">
      <dsp:nvSpPr>
        <dsp:cNvPr id="0" name=""/>
        <dsp:cNvSpPr/>
      </dsp:nvSpPr>
      <dsp:spPr>
        <a:xfrm rot="10800000">
          <a:off x="0" y="1898234"/>
          <a:ext cx="4380172" cy="1916030"/>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This means that the majority of Black Friday sales come from individuals in the 25-35 age range.</a:t>
          </a:r>
        </a:p>
      </dsp:txBody>
      <dsp:txXfrm rot="10800000">
        <a:off x="0" y="1898234"/>
        <a:ext cx="4380172" cy="1244979"/>
      </dsp:txXfrm>
    </dsp:sp>
    <dsp:sp modelId="{8B6355CB-CF0C-4ABF-BAAE-71D3E3878144}">
      <dsp:nvSpPr>
        <dsp:cNvPr id="0" name=""/>
        <dsp:cNvSpPr/>
      </dsp:nvSpPr>
      <dsp:spPr>
        <a:xfrm rot="10800000">
          <a:off x="0" y="891"/>
          <a:ext cx="4380172" cy="1916030"/>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a:t>The data shown in the Line-graph explains that people between the ages of 25-35 buy more during Black Friday sales than any other age group and the second  age group which buy more are in the age demographic of  35-45.</a:t>
          </a:r>
        </a:p>
      </dsp:txBody>
      <dsp:txXfrm rot="10800000">
        <a:off x="0" y="891"/>
        <a:ext cx="4380172" cy="124497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1E8A1-6DA8-4496-BCE8-03ED561CC4E5}"/>
              </a:ext>
            </a:extLst>
          </p:cNvPr>
          <p:cNvSpPr>
            <a:spLocks noGrp="1"/>
          </p:cNvSpPr>
          <p:nvPr>
            <p:ph type="ctrTitle"/>
          </p:nvPr>
        </p:nvSpPr>
        <p:spPr>
          <a:xfrm>
            <a:off x="838200" y="365760"/>
            <a:ext cx="10515600" cy="2890202"/>
          </a:xfrm>
        </p:spPr>
        <p:txBody>
          <a:bodyPr anchor="b">
            <a:normAutofit/>
          </a:bodyPr>
          <a:lstStyle>
            <a:lvl1pPr algn="l">
              <a:defRPr sz="6600"/>
            </a:lvl1pPr>
          </a:lstStyle>
          <a:p>
            <a:r>
              <a:rPr lang="en-US" dirty="0"/>
              <a:t>Click to edit Master title style</a:t>
            </a:r>
          </a:p>
        </p:txBody>
      </p:sp>
      <p:sp>
        <p:nvSpPr>
          <p:cNvPr id="3" name="Subtitle 2">
            <a:extLst>
              <a:ext uri="{FF2B5EF4-FFF2-40B4-BE49-F238E27FC236}">
                <a16:creationId xmlns:a16="http://schemas.microsoft.com/office/drawing/2014/main" id="{3EB24CCC-3D44-4BB5-AA35-A21607EF69A4}"/>
              </a:ext>
            </a:extLst>
          </p:cNvPr>
          <p:cNvSpPr>
            <a:spLocks noGrp="1"/>
          </p:cNvSpPr>
          <p:nvPr>
            <p:ph type="subTitle" idx="1"/>
          </p:nvPr>
        </p:nvSpPr>
        <p:spPr>
          <a:xfrm>
            <a:off x="838200" y="3506150"/>
            <a:ext cx="10515600" cy="248348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301F80F6-1855-44E9-BA95-5E00A06E786D}"/>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5" name="Footer Placeholder 4">
            <a:extLst>
              <a:ext uri="{FF2B5EF4-FFF2-40B4-BE49-F238E27FC236}">
                <a16:creationId xmlns:a16="http://schemas.microsoft.com/office/drawing/2014/main" id="{873D7FFD-570A-4968-B943-AF87BB679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CE6A8-0665-4714-B241-6AFBA8C6F8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775986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2A8A8-ECDA-4018-ABB4-CC22892BE8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0AE7C-51AF-4F0E-B5A3-8C7E1026C27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5F28C09-A717-49AB-B60E-433BC469258F}"/>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5" name="Footer Placeholder 4">
            <a:extLst>
              <a:ext uri="{FF2B5EF4-FFF2-40B4-BE49-F238E27FC236}">
                <a16:creationId xmlns:a16="http://schemas.microsoft.com/office/drawing/2014/main" id="{1D11A47A-6E5A-4754-8B43-9CE556160B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CA1EB-7AC7-4F86-90C0-AA980D88722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151464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95957-C46F-4F17-BC8C-6507E676E916}"/>
              </a:ext>
            </a:extLst>
          </p:cNvPr>
          <p:cNvSpPr>
            <a:spLocks noGrp="1"/>
          </p:cNvSpPr>
          <p:nvPr>
            <p:ph type="title"/>
          </p:nvPr>
        </p:nvSpPr>
        <p:spPr>
          <a:xfrm>
            <a:off x="831850" y="365760"/>
            <a:ext cx="10515600" cy="3827868"/>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98D9661B-6633-4C8B-8B9C-E514DF851D3E}"/>
              </a:ext>
            </a:extLst>
          </p:cNvPr>
          <p:cNvSpPr>
            <a:spLocks noGrp="1"/>
          </p:cNvSpPr>
          <p:nvPr>
            <p:ph type="body" idx="1"/>
          </p:nvPr>
        </p:nvSpPr>
        <p:spPr>
          <a:xfrm>
            <a:off x="831850" y="4443817"/>
            <a:ext cx="10515600" cy="1645834"/>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B6274BF-C1CD-4709-B0A0-E9407DBEA73C}"/>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5" name="Footer Placeholder 4">
            <a:extLst>
              <a:ext uri="{FF2B5EF4-FFF2-40B4-BE49-F238E27FC236}">
                <a16:creationId xmlns:a16="http://schemas.microsoft.com/office/drawing/2014/main" id="{CC9ADB94-0A5B-4B56-B0B1-1FF5580A4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A668A-35AE-4CDF-AC4C-2BEEA9EE80F8}"/>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563955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F1FD-0E96-4963-9F09-92861572BB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79E5F0-B650-4AFF-B90E-23B378684D66}"/>
              </a:ext>
            </a:extLst>
          </p:cNvPr>
          <p:cNvSpPr>
            <a:spLocks noGrp="1"/>
          </p:cNvSpPr>
          <p:nvPr>
            <p:ph sz="half" idx="1"/>
          </p:nvPr>
        </p:nvSpPr>
        <p:spPr>
          <a:xfrm>
            <a:off x="838200" y="1940876"/>
            <a:ext cx="5181600" cy="42360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82D1747B-302D-476E-8F4F-E4B114C6624E}"/>
              </a:ext>
            </a:extLst>
          </p:cNvPr>
          <p:cNvSpPr>
            <a:spLocks noGrp="1"/>
          </p:cNvSpPr>
          <p:nvPr>
            <p:ph sz="half" idx="2"/>
          </p:nvPr>
        </p:nvSpPr>
        <p:spPr>
          <a:xfrm>
            <a:off x="6172200" y="1940876"/>
            <a:ext cx="5181600" cy="423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40577D-22F7-4958-BB3D-6C9265EA1964}"/>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6" name="Footer Placeholder 5">
            <a:extLst>
              <a:ext uri="{FF2B5EF4-FFF2-40B4-BE49-F238E27FC236}">
                <a16:creationId xmlns:a16="http://schemas.microsoft.com/office/drawing/2014/main" id="{71EC5B46-A8FB-4683-9618-3F6E07383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7887BD-93E9-4181-9D7F-940C3E1730FF}"/>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075186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3D79-FA27-4567-9032-AF722733E1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77C1BF-703F-4992-BB0C-EB1E579C7410}"/>
              </a:ext>
            </a:extLst>
          </p:cNvPr>
          <p:cNvSpPr>
            <a:spLocks noGrp="1"/>
          </p:cNvSpPr>
          <p:nvPr>
            <p:ph type="body" idx="1"/>
          </p:nvPr>
        </p:nvSpPr>
        <p:spPr>
          <a:xfrm>
            <a:off x="839788" y="1951823"/>
            <a:ext cx="5157787"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2B2FCE1-6DC0-43B5-8016-89FD4AF5ABD2}"/>
              </a:ext>
            </a:extLst>
          </p:cNvPr>
          <p:cNvSpPr>
            <a:spLocks noGrp="1"/>
          </p:cNvSpPr>
          <p:nvPr>
            <p:ph sz="half" idx="2"/>
          </p:nvPr>
        </p:nvSpPr>
        <p:spPr>
          <a:xfrm>
            <a:off x="839788" y="2954741"/>
            <a:ext cx="5157787" cy="323492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62FED7A-67D0-43CC-889A-25F8849647F1}"/>
              </a:ext>
            </a:extLst>
          </p:cNvPr>
          <p:cNvSpPr>
            <a:spLocks noGrp="1"/>
          </p:cNvSpPr>
          <p:nvPr>
            <p:ph type="body" sz="quarter" idx="3"/>
          </p:nvPr>
        </p:nvSpPr>
        <p:spPr>
          <a:xfrm>
            <a:off x="6172200" y="1951823"/>
            <a:ext cx="5183188" cy="823912"/>
          </a:xfrm>
        </p:spPr>
        <p:txBody>
          <a:bodyPr anchor="b"/>
          <a:lstStyle>
            <a:lvl1pPr marL="0" indent="0">
              <a:buNone/>
              <a:defRPr lang="en-US" sz="2400" b="0" i="1" kern="120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731C176-48F2-44EC-B3A2-A144403D57FB}"/>
              </a:ext>
            </a:extLst>
          </p:cNvPr>
          <p:cNvSpPr>
            <a:spLocks noGrp="1"/>
          </p:cNvSpPr>
          <p:nvPr>
            <p:ph sz="quarter" idx="4"/>
          </p:nvPr>
        </p:nvSpPr>
        <p:spPr>
          <a:xfrm>
            <a:off x="6172200" y="2954741"/>
            <a:ext cx="5183188" cy="3234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9187B8-AC48-4FE7-8658-8A31E37311F6}"/>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8" name="Footer Placeholder 7">
            <a:extLst>
              <a:ext uri="{FF2B5EF4-FFF2-40B4-BE49-F238E27FC236}">
                <a16:creationId xmlns:a16="http://schemas.microsoft.com/office/drawing/2014/main" id="{7CCAB465-E22E-45DC-89C9-406121BCED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9D1CF-F964-4405-8677-5F9E2A02878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567762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A3453-DD0F-41C0-8F4A-5DC343F5EB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4E6313-506F-4456-B3D9-D9655538F9FB}"/>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4" name="Footer Placeholder 3">
            <a:extLst>
              <a:ext uri="{FF2B5EF4-FFF2-40B4-BE49-F238E27FC236}">
                <a16:creationId xmlns:a16="http://schemas.microsoft.com/office/drawing/2014/main" id="{E8F26068-7707-41EC-93EF-A24CAF8FFD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9C8A3C-8C01-4039-B47B-57D8497587A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696941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92633-8C77-419D-B24D-2B3D44DBA556}"/>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3" name="Footer Placeholder 2">
            <a:extLst>
              <a:ext uri="{FF2B5EF4-FFF2-40B4-BE49-F238E27FC236}">
                <a16:creationId xmlns:a16="http://schemas.microsoft.com/office/drawing/2014/main" id="{FD149D59-0A88-4A14-A740-4CCD9B5264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3DEF9-802F-444E-92D2-397862EEAB0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2306421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23C20-3881-4F15-94F7-9D7B9F9E357A}"/>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Content Placeholder 2">
            <a:extLst>
              <a:ext uri="{FF2B5EF4-FFF2-40B4-BE49-F238E27FC236}">
                <a16:creationId xmlns:a16="http://schemas.microsoft.com/office/drawing/2014/main" id="{B268F40F-6C2A-48EC-8F16-DA179A1DA375}"/>
              </a:ext>
            </a:extLst>
          </p:cNvPr>
          <p:cNvSpPr>
            <a:spLocks noGrp="1"/>
          </p:cNvSpPr>
          <p:nvPr>
            <p:ph idx="1"/>
          </p:nvPr>
        </p:nvSpPr>
        <p:spPr>
          <a:xfrm>
            <a:off x="5554638" y="457201"/>
            <a:ext cx="5800749" cy="5403850"/>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6736B7E-D33D-48C7-97AC-5C0D9874FE53}"/>
              </a:ext>
            </a:extLst>
          </p:cNvPr>
          <p:cNvSpPr>
            <a:spLocks noGrp="1"/>
          </p:cNvSpPr>
          <p:nvPr>
            <p:ph type="body" sz="half" idx="2"/>
          </p:nvPr>
        </p:nvSpPr>
        <p:spPr>
          <a:xfrm>
            <a:off x="839788" y="3657600"/>
            <a:ext cx="4343400" cy="2211387"/>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E9149BC5-FF58-463A-B4FA-F0F912F1234F}"/>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6" name="Footer Placeholder 5">
            <a:extLst>
              <a:ext uri="{FF2B5EF4-FFF2-40B4-BE49-F238E27FC236}">
                <a16:creationId xmlns:a16="http://schemas.microsoft.com/office/drawing/2014/main" id="{947072D7-4A2A-407F-A084-6AE8DD0016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D4C41C-C368-475C-BDC1-DC5B29C78005}"/>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1675198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67B0-865B-44ED-9DFE-36C73B0C8B43}"/>
              </a:ext>
            </a:extLst>
          </p:cNvPr>
          <p:cNvSpPr>
            <a:spLocks noGrp="1"/>
          </p:cNvSpPr>
          <p:nvPr>
            <p:ph type="title"/>
          </p:nvPr>
        </p:nvSpPr>
        <p:spPr>
          <a:xfrm>
            <a:off x="839788" y="457200"/>
            <a:ext cx="4343400" cy="2971800"/>
          </a:xfrm>
        </p:spPr>
        <p:txBody>
          <a:bodyPr anchor="b">
            <a:noAutofit/>
          </a:bodyPr>
          <a:lstStyle>
            <a:lvl1pPr algn="l" defTabSz="914400" rtl="0" eaLnBrk="1" latinLnBrk="0" hangingPunct="1">
              <a:lnSpc>
                <a:spcPct val="100000"/>
              </a:lnSpc>
              <a:spcBef>
                <a:spcPct val="0"/>
              </a:spcBef>
              <a:buNone/>
              <a:defRPr lang="en-US" sz="5400" kern="1200" dirty="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a:lstStyle>
          <a:p>
            <a:r>
              <a:rPr lang="en-US" dirty="0"/>
              <a:t>Click to edit Master title style</a:t>
            </a:r>
          </a:p>
        </p:txBody>
      </p:sp>
      <p:sp>
        <p:nvSpPr>
          <p:cNvPr id="3" name="Picture Placeholder 2">
            <a:extLst>
              <a:ext uri="{FF2B5EF4-FFF2-40B4-BE49-F238E27FC236}">
                <a16:creationId xmlns:a16="http://schemas.microsoft.com/office/drawing/2014/main" id="{B73C5CF7-138A-437C-9E0A-FF4179970319}"/>
              </a:ext>
            </a:extLst>
          </p:cNvPr>
          <p:cNvSpPr>
            <a:spLocks noGrp="1"/>
          </p:cNvSpPr>
          <p:nvPr>
            <p:ph type="pic" idx="1"/>
          </p:nvPr>
        </p:nvSpPr>
        <p:spPr>
          <a:xfrm>
            <a:off x="5561462" y="457201"/>
            <a:ext cx="5793925"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5117822-7770-4117-96A2-8D2FF0A01044}"/>
              </a:ext>
            </a:extLst>
          </p:cNvPr>
          <p:cNvSpPr>
            <a:spLocks noGrp="1"/>
          </p:cNvSpPr>
          <p:nvPr>
            <p:ph type="body" sz="half" idx="2"/>
          </p:nvPr>
        </p:nvSpPr>
        <p:spPr>
          <a:xfrm>
            <a:off x="839788" y="3664424"/>
            <a:ext cx="4343400" cy="2204564"/>
          </a:xfrm>
        </p:spPr>
        <p:txBody>
          <a:bodyPr>
            <a:normAutofit/>
          </a:bodyPr>
          <a:lstStyle>
            <a:lvl1pPr marL="0" indent="0">
              <a:buNone/>
              <a:defRPr lang="en-US" sz="2400" i="1" kern="1200" dirty="0" smtClean="0">
                <a:solidFill>
                  <a:schemeClr val="tx2"/>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Font typeface="Arial" panose="020B0604020202020204" pitchFamily="34" charset="0"/>
              <a:buNone/>
            </a:pPr>
            <a:r>
              <a:rPr lang="en-US" dirty="0"/>
              <a:t>Click to edit Master text styles</a:t>
            </a:r>
          </a:p>
        </p:txBody>
      </p:sp>
      <p:sp>
        <p:nvSpPr>
          <p:cNvPr id="5" name="Date Placeholder 4">
            <a:extLst>
              <a:ext uri="{FF2B5EF4-FFF2-40B4-BE49-F238E27FC236}">
                <a16:creationId xmlns:a16="http://schemas.microsoft.com/office/drawing/2014/main" id="{11295030-39C7-4814-A766-1A3E094EBA15}"/>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6" name="Footer Placeholder 5">
            <a:extLst>
              <a:ext uri="{FF2B5EF4-FFF2-40B4-BE49-F238E27FC236}">
                <a16:creationId xmlns:a16="http://schemas.microsoft.com/office/drawing/2014/main" id="{B91F02CD-DC87-47B6-96C4-F6470B1D8F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FF531-02C2-4C1D-A692-7040378066C7}"/>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148685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26EC-DC54-4882-9D58-F201EA25C4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804E7C-4CBA-49AF-B24C-1A1FF51C21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D3C727-C0C7-4BBA-9CF5-6C1FAC76B10C}"/>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5" name="Footer Placeholder 4">
            <a:extLst>
              <a:ext uri="{FF2B5EF4-FFF2-40B4-BE49-F238E27FC236}">
                <a16:creationId xmlns:a16="http://schemas.microsoft.com/office/drawing/2014/main" id="{34603986-C5B4-4956-AC6F-4F36186B8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5F941-E847-4C51-97D6-21066B26EB26}"/>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9335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0338D2-D9EE-4B67-97C1-08ABD574530B}"/>
              </a:ext>
            </a:extLst>
          </p:cNvPr>
          <p:cNvSpPr>
            <a:spLocks noGrp="1"/>
          </p:cNvSpPr>
          <p:nvPr>
            <p:ph type="title" orient="vert"/>
          </p:nvPr>
        </p:nvSpPr>
        <p:spPr>
          <a:xfrm>
            <a:off x="7353848" y="365125"/>
            <a:ext cx="3999952"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74B1422-6C1E-4422-80E8-34B0092FBF05}"/>
              </a:ext>
            </a:extLst>
          </p:cNvPr>
          <p:cNvSpPr>
            <a:spLocks noGrp="1"/>
          </p:cNvSpPr>
          <p:nvPr>
            <p:ph type="body" orient="vert" idx="1"/>
          </p:nvPr>
        </p:nvSpPr>
        <p:spPr>
          <a:xfrm>
            <a:off x="838200" y="365125"/>
            <a:ext cx="626546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C8B53C-3084-4BC0-A80E-DB41C04C6258}"/>
              </a:ext>
            </a:extLst>
          </p:cNvPr>
          <p:cNvSpPr>
            <a:spLocks noGrp="1"/>
          </p:cNvSpPr>
          <p:nvPr>
            <p:ph type="dt" sz="half" idx="10"/>
          </p:nvPr>
        </p:nvSpPr>
        <p:spPr/>
        <p:txBody>
          <a:bodyPr/>
          <a:lstStyle/>
          <a:p>
            <a:fld id="{FD2766A6-3C10-4AB8-86A1-BB1F0CDA7EFE}" type="datetimeFigureOut">
              <a:rPr lang="en-US" smtClean="0"/>
              <a:t>12/10/2023</a:t>
            </a:fld>
            <a:endParaRPr lang="en-US"/>
          </a:p>
        </p:txBody>
      </p:sp>
      <p:sp>
        <p:nvSpPr>
          <p:cNvPr id="5" name="Footer Placeholder 4">
            <a:extLst>
              <a:ext uri="{FF2B5EF4-FFF2-40B4-BE49-F238E27FC236}">
                <a16:creationId xmlns:a16="http://schemas.microsoft.com/office/drawing/2014/main" id="{8276BFDE-DC70-4A6E-90B8-337FC4725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C3578F-39AE-4F6F-9614-32EF672E616D}"/>
              </a:ext>
            </a:extLst>
          </p:cNvPr>
          <p:cNvSpPr>
            <a:spLocks noGrp="1"/>
          </p:cNvSpPr>
          <p:nvPr>
            <p:ph type="sldNum" sz="quarter" idx="12"/>
          </p:nvPr>
        </p:nvSpPr>
        <p:spPr/>
        <p:txBody>
          <a:bodyPr/>
          <a:lstStyle/>
          <a:p>
            <a:fld id="{D3060201-1C40-4B39-813D-5CD9493BAEED}" type="slidenum">
              <a:rPr lang="en-US" smtClean="0"/>
              <a:t>‹#›</a:t>
            </a:fld>
            <a:endParaRPr lang="en-US"/>
          </a:p>
        </p:txBody>
      </p:sp>
    </p:spTree>
    <p:extLst>
      <p:ext uri="{BB962C8B-B14F-4D97-AF65-F5344CB8AC3E}">
        <p14:creationId xmlns:p14="http://schemas.microsoft.com/office/powerpoint/2010/main" val="396693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6818BD-D734-48A1-8CC0-609D11E5560E}"/>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AF9D215A-D2A1-4903-A905-F8B06EF41B4F}"/>
              </a:ext>
            </a:extLst>
          </p:cNvPr>
          <p:cNvSpPr>
            <a:spLocks noGrp="1"/>
          </p:cNvSpPr>
          <p:nvPr>
            <p:ph type="body" idx="1"/>
          </p:nvPr>
        </p:nvSpPr>
        <p:spPr>
          <a:xfrm>
            <a:off x="838200" y="1940875"/>
            <a:ext cx="10515600" cy="423608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42B88A-7A1D-4AA1-8536-28DC13D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FD2766A6-3C10-4AB8-86A1-BB1F0CDA7EFE}" type="datetimeFigureOut">
              <a:rPr lang="en-US" smtClean="0"/>
              <a:pPr/>
              <a:t>12/10/2023</a:t>
            </a:fld>
            <a:endParaRPr lang="en-US" dirty="0"/>
          </a:p>
        </p:txBody>
      </p:sp>
      <p:sp>
        <p:nvSpPr>
          <p:cNvPr id="5" name="Footer Placeholder 4">
            <a:extLst>
              <a:ext uri="{FF2B5EF4-FFF2-40B4-BE49-F238E27FC236}">
                <a16:creationId xmlns:a16="http://schemas.microsoft.com/office/drawing/2014/main" id="{B37FE925-0C4B-4BAE-9799-3A9D46D920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DAD54-E5C5-4D48-8592-BB22F0A851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3060201-1C40-4B39-813D-5CD9493BAEED}" type="slidenum">
              <a:rPr lang="en-US" smtClean="0"/>
              <a:pPr/>
              <a:t>‹#›</a:t>
            </a:fld>
            <a:endParaRPr lang="en-US"/>
          </a:p>
        </p:txBody>
      </p:sp>
    </p:spTree>
    <p:extLst>
      <p:ext uri="{BB962C8B-B14F-4D97-AF65-F5344CB8AC3E}">
        <p14:creationId xmlns:p14="http://schemas.microsoft.com/office/powerpoint/2010/main" val="107207848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1" r:id="rId6"/>
    <p:sldLayoutId id="2147483687" r:id="rId7"/>
    <p:sldLayoutId id="2147483688" r:id="rId8"/>
    <p:sldLayoutId id="2147483689" r:id="rId9"/>
    <p:sldLayoutId id="2147483690" r:id="rId10"/>
    <p:sldLayoutId id="2147483692" r:id="rId11"/>
  </p:sldLayoutIdLst>
  <p:txStyles>
    <p:titleStyle>
      <a:lvl1pPr algn="l" defTabSz="914400" rtl="0" eaLnBrk="1" latinLnBrk="0" hangingPunct="1">
        <a:lnSpc>
          <a:spcPct val="100000"/>
        </a:lnSpc>
        <a:spcBef>
          <a:spcPct val="0"/>
        </a:spcBef>
        <a:buNone/>
        <a:defRPr lang="en-US" sz="5400" kern="1200" smtClean="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defRPr>
      </a:lvl1pPr>
    </p:titleStyle>
    <p:bodyStyle>
      <a:lvl1pPr marL="228600" indent="-228600" algn="l" defTabSz="914400" rtl="0" eaLnBrk="1" latinLnBrk="0" hangingPunct="1">
        <a:lnSpc>
          <a:spcPct val="110000"/>
        </a:lnSpc>
        <a:spcBef>
          <a:spcPts val="1000"/>
        </a:spcBef>
        <a:buClr>
          <a:schemeClr val="tx2"/>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tx2"/>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tx2"/>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tx2"/>
        </a:buClr>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7.png"/><Relationship Id="rId7" Type="http://schemas.openxmlformats.org/officeDocument/2006/relationships/diagramColors" Target="../diagrams/colors4.xml"/><Relationship Id="rId2"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FB869131-809F-4714-9B05-385CAF009A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E12C02-837D-6BC1-3E96-8B50338C1E29}"/>
              </a:ext>
            </a:extLst>
          </p:cNvPr>
          <p:cNvSpPr>
            <a:spLocks noGrp="1"/>
          </p:cNvSpPr>
          <p:nvPr>
            <p:ph type="ctrTitle"/>
          </p:nvPr>
        </p:nvSpPr>
        <p:spPr>
          <a:xfrm>
            <a:off x="5760138" y="506705"/>
            <a:ext cx="5746062" cy="2888685"/>
          </a:xfrm>
        </p:spPr>
        <p:txBody>
          <a:bodyPr vert="horz" lIns="91440" tIns="45720" rIns="91440" bIns="45720" rtlCol="0" anchor="b">
            <a:normAutofit/>
          </a:bodyPr>
          <a:lstStyle/>
          <a:p>
            <a:r>
              <a:rPr lang="en-US" sz="5000"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Data Visualization Project for Black Friday Sales</a:t>
            </a:r>
          </a:p>
        </p:txBody>
      </p:sp>
      <p:sp>
        <p:nvSpPr>
          <p:cNvPr id="3" name="Subtitle 2">
            <a:extLst>
              <a:ext uri="{FF2B5EF4-FFF2-40B4-BE49-F238E27FC236}">
                <a16:creationId xmlns:a16="http://schemas.microsoft.com/office/drawing/2014/main" id="{CA63B4E6-FF7A-4E76-481F-E6BB0E070EFD}"/>
              </a:ext>
            </a:extLst>
          </p:cNvPr>
          <p:cNvSpPr>
            <a:spLocks noGrp="1"/>
          </p:cNvSpPr>
          <p:nvPr>
            <p:ph type="subTitle" idx="1"/>
          </p:nvPr>
        </p:nvSpPr>
        <p:spPr>
          <a:xfrm>
            <a:off x="6598823" y="3564412"/>
            <a:ext cx="4907377" cy="2696944"/>
          </a:xfrm>
        </p:spPr>
        <p:txBody>
          <a:bodyPr vert="horz" lIns="91440" tIns="45720" rIns="91440" bIns="45720" rtlCol="0" anchor="t">
            <a:normAutofit/>
          </a:bodyPr>
          <a:lstStyle/>
          <a:p>
            <a:endParaRPr lang="en-US"/>
          </a:p>
          <a:p>
            <a:pPr indent="-228600">
              <a:buFont typeface="Arial" panose="020B0604020202020204" pitchFamily="34" charset="0"/>
              <a:buChar char="•"/>
            </a:pPr>
            <a:r>
              <a:rPr lang="en-US" dirty="0"/>
              <a:t>Hemanth Kumar Kottapalli</a:t>
            </a:r>
          </a:p>
          <a:p>
            <a:pPr indent="-228600">
              <a:buFont typeface="Arial" panose="020B0604020202020204" pitchFamily="34" charset="0"/>
              <a:buChar char="•"/>
            </a:pPr>
            <a:r>
              <a:rPr lang="en-US" dirty="0"/>
              <a:t>Srinivasa Hrishikesh Madiraju</a:t>
            </a:r>
          </a:p>
          <a:p>
            <a:pPr indent="-228600">
              <a:buFont typeface="Arial" panose="020B0604020202020204" pitchFamily="34" charset="0"/>
              <a:buChar char="•"/>
            </a:pPr>
            <a:r>
              <a:rPr lang="en-US" dirty="0" err="1"/>
              <a:t>Asifali</a:t>
            </a:r>
            <a:r>
              <a:rPr lang="en-US" dirty="0"/>
              <a:t> Mohammed</a:t>
            </a:r>
          </a:p>
        </p:txBody>
      </p:sp>
      <p:pic>
        <p:nvPicPr>
          <p:cNvPr id="45" name="Picture 44">
            <a:extLst>
              <a:ext uri="{FF2B5EF4-FFF2-40B4-BE49-F238E27FC236}">
                <a16:creationId xmlns:a16="http://schemas.microsoft.com/office/drawing/2014/main" id="{E607CC36-1242-28A2-42DC-43880DAE2499}"/>
              </a:ext>
            </a:extLst>
          </p:cNvPr>
          <p:cNvPicPr>
            <a:picLocks noChangeAspect="1"/>
          </p:cNvPicPr>
          <p:nvPr/>
        </p:nvPicPr>
        <p:blipFill>
          <a:blip r:embed="rId2"/>
          <a:stretch>
            <a:fillRect/>
          </a:stretch>
        </p:blipFill>
        <p:spPr>
          <a:xfrm>
            <a:off x="939344" y="3602269"/>
            <a:ext cx="3974924" cy="2653262"/>
          </a:xfrm>
          <a:prstGeom prst="rect">
            <a:avLst/>
          </a:prstGeom>
        </p:spPr>
      </p:pic>
      <p:pic>
        <p:nvPicPr>
          <p:cNvPr id="46" name="Picture 45">
            <a:extLst>
              <a:ext uri="{FF2B5EF4-FFF2-40B4-BE49-F238E27FC236}">
                <a16:creationId xmlns:a16="http://schemas.microsoft.com/office/drawing/2014/main" id="{67FBE850-AB0F-56D8-2FE4-9310B46B13D6}"/>
              </a:ext>
            </a:extLst>
          </p:cNvPr>
          <p:cNvPicPr>
            <a:picLocks noChangeAspect="1"/>
          </p:cNvPicPr>
          <p:nvPr/>
        </p:nvPicPr>
        <p:blipFill>
          <a:blip r:embed="rId2"/>
          <a:stretch>
            <a:fillRect/>
          </a:stretch>
        </p:blipFill>
        <p:spPr>
          <a:xfrm>
            <a:off x="939345" y="596644"/>
            <a:ext cx="3974924" cy="2653262"/>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D3E2EEE-5E2B-473D-B932-CC1CB66592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AEEED1-F7BD-2794-BF28-BAF036ED81B9}"/>
              </a:ext>
            </a:extLst>
          </p:cNvPr>
          <p:cNvSpPr>
            <a:spLocks noGrp="1"/>
          </p:cNvSpPr>
          <p:nvPr>
            <p:ph type="title"/>
          </p:nvPr>
        </p:nvSpPr>
        <p:spPr>
          <a:xfrm>
            <a:off x="838200" y="365126"/>
            <a:ext cx="10668000" cy="1038508"/>
          </a:xfrm>
        </p:spPr>
        <p:txBody>
          <a:bodyPr>
            <a:normAutofit/>
          </a:bodyPr>
          <a:lstStyle/>
          <a:p>
            <a:r>
              <a:rPr lang="en-US">
                <a:latin typeface="Aharoni"/>
                <a:cs typeface="Angsana New"/>
              </a:rPr>
              <a:t>Introduction</a:t>
            </a:r>
            <a:endParaRPr lang="en-US"/>
          </a:p>
        </p:txBody>
      </p:sp>
      <p:graphicFrame>
        <p:nvGraphicFramePr>
          <p:cNvPr id="15" name="Content Placeholder 2">
            <a:extLst>
              <a:ext uri="{FF2B5EF4-FFF2-40B4-BE49-F238E27FC236}">
                <a16:creationId xmlns:a16="http://schemas.microsoft.com/office/drawing/2014/main" id="{8BC9E866-486F-6B09-F860-ACD897A0F7A5}"/>
              </a:ext>
            </a:extLst>
          </p:cNvPr>
          <p:cNvGraphicFramePr>
            <a:graphicFrameLocks noGrp="1"/>
          </p:cNvGraphicFramePr>
          <p:nvPr>
            <p:ph idx="1"/>
            <p:extLst>
              <p:ext uri="{D42A27DB-BD31-4B8C-83A1-F6EECF244321}">
                <p14:modId xmlns:p14="http://schemas.microsoft.com/office/powerpoint/2010/main" val="3327752806"/>
              </p:ext>
            </p:extLst>
          </p:nvPr>
        </p:nvGraphicFramePr>
        <p:xfrm>
          <a:off x="838200" y="1941513"/>
          <a:ext cx="10515600" cy="4235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34754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75E3E-7EAE-F5B0-8F2D-6F4E447555C2}"/>
              </a:ext>
            </a:extLst>
          </p:cNvPr>
          <p:cNvSpPr>
            <a:spLocks noGrp="1"/>
          </p:cNvSpPr>
          <p:nvPr>
            <p:ph type="title"/>
          </p:nvPr>
        </p:nvSpPr>
        <p:spPr>
          <a:xfrm>
            <a:off x="838200" y="780444"/>
            <a:ext cx="4030834" cy="5391756"/>
          </a:xfrm>
        </p:spPr>
        <p:txBody>
          <a:bodyPr anchor="t">
            <a:normAutofit/>
          </a:bodyPr>
          <a:lstStyle/>
          <a:p>
            <a:r>
              <a:rPr lang="en-US" sz="4200">
                <a:latin typeface="Aharoni"/>
                <a:cs typeface="Angsana New"/>
              </a:rPr>
              <a:t>Understanding Data Set, Data Source, identify key metrics</a:t>
            </a:r>
            <a:endParaRPr lang="en-US" sz="4200"/>
          </a:p>
        </p:txBody>
      </p:sp>
      <p:graphicFrame>
        <p:nvGraphicFramePr>
          <p:cNvPr id="12" name="Content Placeholder 2">
            <a:extLst>
              <a:ext uri="{FF2B5EF4-FFF2-40B4-BE49-F238E27FC236}">
                <a16:creationId xmlns:a16="http://schemas.microsoft.com/office/drawing/2014/main" id="{4C7D7B41-1730-CD7E-FCFE-E6D6E60876E8}"/>
              </a:ext>
            </a:extLst>
          </p:cNvPr>
          <p:cNvGraphicFramePr>
            <a:graphicFrameLocks noGrp="1"/>
          </p:cNvGraphicFramePr>
          <p:nvPr>
            <p:ph idx="1"/>
          </p:nvPr>
        </p:nvGraphicFramePr>
        <p:xfrm>
          <a:off x="5591236" y="780444"/>
          <a:ext cx="5762564" cy="53965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4789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2A297-D636-34B8-430C-2BECC8F1E12F}"/>
              </a:ext>
            </a:extLst>
          </p:cNvPr>
          <p:cNvSpPr>
            <a:spLocks noGrp="1"/>
          </p:cNvSpPr>
          <p:nvPr>
            <p:ph type="title"/>
          </p:nvPr>
        </p:nvSpPr>
        <p:spPr>
          <a:xfrm>
            <a:off x="838200" y="365126"/>
            <a:ext cx="10668000" cy="1038508"/>
          </a:xfrm>
        </p:spPr>
        <p:txBody>
          <a:bodyPr>
            <a:normAutofit/>
          </a:bodyPr>
          <a:lstStyle/>
          <a:p>
            <a:r>
              <a:rPr lang="en-US">
                <a:latin typeface="Aharoni"/>
                <a:cs typeface="Angsana New"/>
              </a:rPr>
              <a:t>Research Questions</a:t>
            </a:r>
            <a:endParaRPr lang="en-US"/>
          </a:p>
        </p:txBody>
      </p:sp>
      <p:graphicFrame>
        <p:nvGraphicFramePr>
          <p:cNvPr id="5" name="Content Placeholder 2">
            <a:extLst>
              <a:ext uri="{FF2B5EF4-FFF2-40B4-BE49-F238E27FC236}">
                <a16:creationId xmlns:a16="http://schemas.microsoft.com/office/drawing/2014/main" id="{77ADED82-DBA3-79F4-2FB7-A71ACA7666A0}"/>
              </a:ext>
            </a:extLst>
          </p:cNvPr>
          <p:cNvGraphicFramePr>
            <a:graphicFrameLocks noGrp="1"/>
          </p:cNvGraphicFramePr>
          <p:nvPr>
            <p:ph idx="1"/>
          </p:nvPr>
        </p:nvGraphicFramePr>
        <p:xfrm>
          <a:off x="838200" y="1941513"/>
          <a:ext cx="10515600" cy="42354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4529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CA2FD08-BE81-4E19-E387-9793D94383BA}"/>
              </a:ext>
            </a:extLst>
          </p:cNvPr>
          <p:cNvSpPr>
            <a:spLocks noGrp="1"/>
          </p:cNvSpPr>
          <p:nvPr>
            <p:ph type="title"/>
          </p:nvPr>
        </p:nvSpPr>
        <p:spPr>
          <a:xfrm>
            <a:off x="431074" y="-25851"/>
            <a:ext cx="9271313" cy="1084217"/>
          </a:xfrm>
        </p:spPr>
        <p:txBody>
          <a:bodyPr/>
          <a:lstStyle/>
          <a:p>
            <a:r>
              <a:rPr lang="en-IN"/>
              <a:t>Age Vs Purchases</a:t>
            </a:r>
          </a:p>
        </p:txBody>
      </p:sp>
      <p:pic>
        <p:nvPicPr>
          <p:cNvPr id="6" name="Picture Placeholder 5">
            <a:extLst>
              <a:ext uri="{FF2B5EF4-FFF2-40B4-BE49-F238E27FC236}">
                <a16:creationId xmlns:a16="http://schemas.microsoft.com/office/drawing/2014/main" id="{E85184B8-44CA-FE6A-5921-3119347DFE55}"/>
              </a:ext>
            </a:extLst>
          </p:cNvPr>
          <p:cNvPicPr>
            <a:picLocks noGrp="1" noChangeAspect="1"/>
          </p:cNvPicPr>
          <p:nvPr>
            <p:ph type="pic" idx="1"/>
          </p:nvPr>
        </p:nvPicPr>
        <p:blipFill>
          <a:blip r:embed="rId2"/>
          <a:srcRect l="51" r="51"/>
          <a:stretch>
            <a:fillRect/>
          </a:stretch>
        </p:blipFill>
        <p:spPr>
          <a:xfrm>
            <a:off x="4223902" y="740412"/>
            <a:ext cx="5793925" cy="5403850"/>
          </a:xfrm>
          <a:prstGeom prst="rect">
            <a:avLst/>
          </a:prstGeom>
        </p:spPr>
      </p:pic>
      <p:pic>
        <p:nvPicPr>
          <p:cNvPr id="2" name="Picture 1">
            <a:extLst>
              <a:ext uri="{FF2B5EF4-FFF2-40B4-BE49-F238E27FC236}">
                <a16:creationId xmlns:a16="http://schemas.microsoft.com/office/drawing/2014/main" id="{E0E7C388-364F-CA33-D4FB-317A7AE4D1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074" y="1436914"/>
            <a:ext cx="6518363" cy="5042263"/>
          </a:xfrm>
          <a:prstGeom prst="rect">
            <a:avLst/>
          </a:prstGeom>
        </p:spPr>
      </p:pic>
      <p:graphicFrame>
        <p:nvGraphicFramePr>
          <p:cNvPr id="19" name="Text Placeholder 4">
            <a:extLst>
              <a:ext uri="{FF2B5EF4-FFF2-40B4-BE49-F238E27FC236}">
                <a16:creationId xmlns:a16="http://schemas.microsoft.com/office/drawing/2014/main" id="{851B9FA4-07C5-C252-E854-03606698697A}"/>
              </a:ext>
            </a:extLst>
          </p:cNvPr>
          <p:cNvGraphicFramePr/>
          <p:nvPr/>
        </p:nvGraphicFramePr>
        <p:xfrm>
          <a:off x="7512301" y="1436914"/>
          <a:ext cx="4380172" cy="50422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05867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FB869131-809F-4714-9B05-385CAF009A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a:extLst>
              <a:ext uri="{FF2B5EF4-FFF2-40B4-BE49-F238E27FC236}">
                <a16:creationId xmlns:a16="http://schemas.microsoft.com/office/drawing/2014/main" id="{6B85A72C-540B-375E-6CF0-D6CB7C4F0D1C}"/>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l="2562" r="10525" b="1"/>
          <a:stretch/>
        </p:blipFill>
        <p:spPr>
          <a:xfrm>
            <a:off x="594386" y="596644"/>
            <a:ext cx="6698534" cy="5664712"/>
          </a:xfrm>
          <a:prstGeom prst="rect">
            <a:avLst/>
          </a:prstGeom>
        </p:spPr>
      </p:pic>
      <p:sp>
        <p:nvSpPr>
          <p:cNvPr id="2" name="Title 1">
            <a:extLst>
              <a:ext uri="{FF2B5EF4-FFF2-40B4-BE49-F238E27FC236}">
                <a16:creationId xmlns:a16="http://schemas.microsoft.com/office/drawing/2014/main" id="{36C956FF-4B30-9A5A-9A85-11DFAEB645A6}"/>
              </a:ext>
            </a:extLst>
          </p:cNvPr>
          <p:cNvSpPr>
            <a:spLocks noGrp="1"/>
          </p:cNvSpPr>
          <p:nvPr>
            <p:ph type="title"/>
          </p:nvPr>
        </p:nvSpPr>
        <p:spPr>
          <a:xfrm>
            <a:off x="7757839" y="596644"/>
            <a:ext cx="3748361" cy="2798746"/>
          </a:xfrm>
          <a:noFill/>
        </p:spPr>
        <p:txBody>
          <a:bodyPr vert="horz" lIns="91440" tIns="45720" rIns="91440" bIns="45720" rtlCol="0" anchor="ctr">
            <a:normAutofit/>
          </a:bodyPr>
          <a:lstStyle/>
          <a:p>
            <a:r>
              <a:rPr lang="en-US"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Stay in current city Years</a:t>
            </a:r>
          </a:p>
        </p:txBody>
      </p:sp>
      <p:sp>
        <p:nvSpPr>
          <p:cNvPr id="31" name="Text Placeholder 3">
            <a:extLst>
              <a:ext uri="{FF2B5EF4-FFF2-40B4-BE49-F238E27FC236}">
                <a16:creationId xmlns:a16="http://schemas.microsoft.com/office/drawing/2014/main" id="{34D9EFF3-01BB-1F0F-0705-D7EED32C4F53}"/>
              </a:ext>
            </a:extLst>
          </p:cNvPr>
          <p:cNvSpPr>
            <a:spLocks noGrp="1"/>
          </p:cNvSpPr>
          <p:nvPr>
            <p:ph type="body" sz="half" idx="2"/>
          </p:nvPr>
        </p:nvSpPr>
        <p:spPr>
          <a:xfrm>
            <a:off x="7757839" y="3564412"/>
            <a:ext cx="3748361" cy="2696944"/>
          </a:xfrm>
        </p:spPr>
        <p:txBody>
          <a:bodyPr vert="horz" lIns="91440" tIns="45720" rIns="91440" bIns="45720" rtlCol="0" anchor="t">
            <a:normAutofit/>
          </a:bodyPr>
          <a:lstStyle/>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The Bar-graph was split into three groups: A, B, and C. It clearly indicates that people in group B, who have lived in the city for one year, make more purchases compared to other city residents on Black Friday.</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With this analysis it helps the businesses to focus on the certain residents for more accurate sales.</a:t>
            </a:r>
          </a:p>
        </p:txBody>
      </p:sp>
    </p:spTree>
    <p:extLst>
      <p:ext uri="{BB962C8B-B14F-4D97-AF65-F5344CB8AC3E}">
        <p14:creationId xmlns:p14="http://schemas.microsoft.com/office/powerpoint/2010/main" val="2223749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FB869131-809F-4714-9B05-385CAF009A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Placeholder 5">
            <a:extLst>
              <a:ext uri="{FF2B5EF4-FFF2-40B4-BE49-F238E27FC236}">
                <a16:creationId xmlns:a16="http://schemas.microsoft.com/office/drawing/2014/main" id="{49077222-0F2C-9541-E45D-1E5BF08C84E4}"/>
              </a:ext>
            </a:extLst>
          </p:cNvPr>
          <p:cNvPicPr>
            <a:picLocks noGrp="1" noChangeAspect="1"/>
          </p:cNvPicPr>
          <p:nvPr>
            <p:ph type="pic" idx="1"/>
          </p:nvPr>
        </p:nvPicPr>
        <p:blipFill rotWithShape="1">
          <a:blip r:embed="rId2">
            <a:extLst>
              <a:ext uri="{28A0092B-C50C-407E-A947-70E740481C1C}">
                <a14:useLocalDpi xmlns:a14="http://schemas.microsoft.com/office/drawing/2010/main" val="0"/>
              </a:ext>
            </a:extLst>
          </a:blip>
          <a:srcRect t="611" r="-3" b="14821"/>
          <a:stretch/>
        </p:blipFill>
        <p:spPr>
          <a:xfrm>
            <a:off x="594360" y="596644"/>
            <a:ext cx="6698586" cy="5664712"/>
          </a:xfrm>
          <a:prstGeom prst="rect">
            <a:avLst/>
          </a:prstGeom>
        </p:spPr>
      </p:pic>
      <p:sp>
        <p:nvSpPr>
          <p:cNvPr id="2" name="Title 1">
            <a:extLst>
              <a:ext uri="{FF2B5EF4-FFF2-40B4-BE49-F238E27FC236}">
                <a16:creationId xmlns:a16="http://schemas.microsoft.com/office/drawing/2014/main" id="{84DADF55-3102-B204-D9F2-8F10299C6534}"/>
              </a:ext>
            </a:extLst>
          </p:cNvPr>
          <p:cNvSpPr>
            <a:spLocks noGrp="1"/>
          </p:cNvSpPr>
          <p:nvPr>
            <p:ph type="title"/>
          </p:nvPr>
        </p:nvSpPr>
        <p:spPr>
          <a:xfrm>
            <a:off x="7047047" y="909562"/>
            <a:ext cx="4749746" cy="1827150"/>
          </a:xfrm>
        </p:spPr>
        <p:txBody>
          <a:bodyPr vert="horz" lIns="91440" tIns="45720" rIns="91440" bIns="45720" rtlCol="0" anchor="ctr">
            <a:normAutofit/>
          </a:bodyPr>
          <a:lstStyle/>
          <a:p>
            <a:r>
              <a:rPr lang="en-US"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Gender Vs Purchases</a:t>
            </a:r>
          </a:p>
        </p:txBody>
      </p:sp>
      <p:sp>
        <p:nvSpPr>
          <p:cNvPr id="4" name="Text Placeholder 3">
            <a:extLst>
              <a:ext uri="{FF2B5EF4-FFF2-40B4-BE49-F238E27FC236}">
                <a16:creationId xmlns:a16="http://schemas.microsoft.com/office/drawing/2014/main" id="{778CBF87-6CD5-CE06-E3F2-9FCE76DD7E93}"/>
              </a:ext>
            </a:extLst>
          </p:cNvPr>
          <p:cNvSpPr>
            <a:spLocks noGrp="1"/>
          </p:cNvSpPr>
          <p:nvPr>
            <p:ph type="body" sz="half" idx="2"/>
          </p:nvPr>
        </p:nvSpPr>
        <p:spPr>
          <a:xfrm>
            <a:off x="7602856" y="2808870"/>
            <a:ext cx="3942089" cy="3039198"/>
          </a:xfrm>
        </p:spPr>
        <p:txBody>
          <a:bodyPr vert="horz" lIns="91440" tIns="45720" rIns="91440" bIns="45720" rtlCol="0" anchor="t">
            <a:noAutofit/>
          </a:bodyPr>
          <a:lstStyle/>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Looking at the pie chart representing purchases based on gender, it's evident that men make more Black Friday sales transactions than women.</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With the help of this pie chart , retailers can promote the products which are used by female consumers to increase the sales from them and maintain consistency for the male consumers as they buy more on Black Friday sales.</a:t>
            </a:r>
          </a:p>
          <a:p>
            <a:pPr indent="-228600">
              <a:lnSpc>
                <a:spcPct val="100000"/>
              </a:lnSpc>
              <a:buFont typeface="Arial" panose="020B0604020202020204" pitchFamily="34" charset="0"/>
              <a:buChar char="•"/>
            </a:pPr>
            <a:endParaRPr lang="en-US" sz="1600" dirty="0">
              <a:solidFill>
                <a:schemeClr val="tx1"/>
              </a:solidFill>
            </a:endParaRPr>
          </a:p>
          <a:p>
            <a:pPr indent="-228600">
              <a:lnSpc>
                <a:spcPct val="100000"/>
              </a:lnSpc>
              <a:buFont typeface="Arial" panose="020B0604020202020204" pitchFamily="34" charset="0"/>
              <a:buChar char="•"/>
            </a:pPr>
            <a:endParaRPr lang="en-US" sz="1300">
              <a:solidFill>
                <a:schemeClr val="tx1"/>
              </a:solidFill>
            </a:endParaRPr>
          </a:p>
        </p:txBody>
      </p:sp>
    </p:spTree>
    <p:extLst>
      <p:ext uri="{BB962C8B-B14F-4D97-AF65-F5344CB8AC3E}">
        <p14:creationId xmlns:p14="http://schemas.microsoft.com/office/powerpoint/2010/main" val="4053150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B869131-809F-4714-9B05-385CAF009A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a:extLst>
              <a:ext uri="{FF2B5EF4-FFF2-40B4-BE49-F238E27FC236}">
                <a16:creationId xmlns:a16="http://schemas.microsoft.com/office/drawing/2014/main" id="{CAAD23DD-4168-558A-0AE7-F889171EFD90}"/>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592" b="592"/>
          <a:stretch>
            <a:fillRect/>
          </a:stretch>
        </p:blipFill>
        <p:spPr>
          <a:xfrm>
            <a:off x="910539" y="596644"/>
            <a:ext cx="6066227" cy="5664712"/>
          </a:xfrm>
          <a:prstGeom prst="rect">
            <a:avLst/>
          </a:prstGeom>
        </p:spPr>
      </p:pic>
      <p:sp>
        <p:nvSpPr>
          <p:cNvPr id="2" name="Title 1">
            <a:extLst>
              <a:ext uri="{FF2B5EF4-FFF2-40B4-BE49-F238E27FC236}">
                <a16:creationId xmlns:a16="http://schemas.microsoft.com/office/drawing/2014/main" id="{7D752545-332D-0878-E38D-D285B7E6E46A}"/>
              </a:ext>
            </a:extLst>
          </p:cNvPr>
          <p:cNvSpPr>
            <a:spLocks noGrp="1"/>
          </p:cNvSpPr>
          <p:nvPr>
            <p:ph type="title"/>
          </p:nvPr>
        </p:nvSpPr>
        <p:spPr>
          <a:xfrm>
            <a:off x="7757839" y="596644"/>
            <a:ext cx="3748361" cy="2798746"/>
          </a:xfrm>
          <a:noFill/>
        </p:spPr>
        <p:txBody>
          <a:bodyPr vert="horz" lIns="91440" tIns="45720" rIns="91440" bIns="45720" rtlCol="0" anchor="ctr">
            <a:normAutofit/>
          </a:bodyPr>
          <a:lstStyle/>
          <a:p>
            <a:r>
              <a:rPr lang="en-US"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Top selling Products</a:t>
            </a:r>
          </a:p>
        </p:txBody>
      </p:sp>
      <p:sp>
        <p:nvSpPr>
          <p:cNvPr id="4" name="Text Placeholder 3">
            <a:extLst>
              <a:ext uri="{FF2B5EF4-FFF2-40B4-BE49-F238E27FC236}">
                <a16:creationId xmlns:a16="http://schemas.microsoft.com/office/drawing/2014/main" id="{B1D15BA1-C1DC-63F2-2589-B26AE68913C6}"/>
              </a:ext>
            </a:extLst>
          </p:cNvPr>
          <p:cNvSpPr>
            <a:spLocks noGrp="1"/>
          </p:cNvSpPr>
          <p:nvPr>
            <p:ph type="body" sz="half" idx="2"/>
          </p:nvPr>
        </p:nvSpPr>
        <p:spPr>
          <a:xfrm>
            <a:off x="7757839" y="3564412"/>
            <a:ext cx="3748361" cy="2696944"/>
          </a:xfrm>
        </p:spPr>
        <p:txBody>
          <a:bodyPr vert="horz" lIns="91440" tIns="45720" rIns="91440" bIns="45720" rtlCol="0" anchor="t">
            <a:normAutofit lnSpcReduction="10000"/>
          </a:bodyPr>
          <a:lstStyle/>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The stacked bar graph shows that electronics had the highest sales on Black Friday, followed by clothing. </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This information is valuable for retailers because it suggests they should focus more on promoting and featuring these products. Additionally, for online retail algorithms, it indicates they should prioritize recommending and showcasing these items on websites</a:t>
            </a:r>
          </a:p>
        </p:txBody>
      </p:sp>
    </p:spTree>
    <p:extLst>
      <p:ext uri="{BB962C8B-B14F-4D97-AF65-F5344CB8AC3E}">
        <p14:creationId xmlns:p14="http://schemas.microsoft.com/office/powerpoint/2010/main" val="261163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FB869131-809F-4714-9B05-385CAF009A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4">
            <a:extLst>
              <a:ext uri="{FF2B5EF4-FFF2-40B4-BE49-F238E27FC236}">
                <a16:creationId xmlns:a16="http://schemas.microsoft.com/office/drawing/2014/main" id="{9A72719C-BDEC-8D78-646D-C32A7FF987AB}"/>
              </a:ext>
            </a:extLst>
          </p:cNvPr>
          <p:cNvPicPr>
            <a:picLocks noGrp="1" noChangeAspect="1"/>
          </p:cNvPicPr>
          <p:nvPr>
            <p:ph type="pic" idx="1"/>
          </p:nvPr>
        </p:nvPicPr>
        <p:blipFill rotWithShape="1">
          <a:blip r:embed="rId2" cstate="print">
            <a:extLst>
              <a:ext uri="{28A0092B-C50C-407E-A947-70E740481C1C}">
                <a14:useLocalDpi xmlns:a14="http://schemas.microsoft.com/office/drawing/2010/main" val="0"/>
              </a:ext>
            </a:extLst>
          </a:blip>
          <a:srcRect l="1259" r="18266"/>
          <a:stretch/>
        </p:blipFill>
        <p:spPr>
          <a:xfrm>
            <a:off x="853024" y="596644"/>
            <a:ext cx="6181257" cy="5664712"/>
          </a:xfrm>
          <a:prstGeom prst="rect">
            <a:avLst/>
          </a:prstGeom>
        </p:spPr>
      </p:pic>
      <p:sp>
        <p:nvSpPr>
          <p:cNvPr id="2" name="Title 1">
            <a:extLst>
              <a:ext uri="{FF2B5EF4-FFF2-40B4-BE49-F238E27FC236}">
                <a16:creationId xmlns:a16="http://schemas.microsoft.com/office/drawing/2014/main" id="{BA2DC8EA-CF29-3CD4-34D1-687F037FEC07}"/>
              </a:ext>
            </a:extLst>
          </p:cNvPr>
          <p:cNvSpPr>
            <a:spLocks noGrp="1"/>
          </p:cNvSpPr>
          <p:nvPr>
            <p:ph type="title"/>
          </p:nvPr>
        </p:nvSpPr>
        <p:spPr>
          <a:xfrm>
            <a:off x="7757839" y="596644"/>
            <a:ext cx="3748361" cy="2798746"/>
          </a:xfrm>
          <a:noFill/>
        </p:spPr>
        <p:txBody>
          <a:bodyPr vert="horz" lIns="91440" tIns="45720" rIns="91440" bIns="45720" rtlCol="0" anchor="ctr">
            <a:normAutofit/>
          </a:bodyPr>
          <a:lstStyle/>
          <a:p>
            <a:r>
              <a:rPr lang="en-US" sz="4200"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DASHBOARD</a:t>
            </a:r>
          </a:p>
        </p:txBody>
      </p:sp>
      <p:sp>
        <p:nvSpPr>
          <p:cNvPr id="4" name="Text Placeholder 3">
            <a:extLst>
              <a:ext uri="{FF2B5EF4-FFF2-40B4-BE49-F238E27FC236}">
                <a16:creationId xmlns:a16="http://schemas.microsoft.com/office/drawing/2014/main" id="{47DB7B52-2478-D40C-80A6-847D4E6DB21E}"/>
              </a:ext>
            </a:extLst>
          </p:cNvPr>
          <p:cNvSpPr>
            <a:spLocks noGrp="1"/>
          </p:cNvSpPr>
          <p:nvPr>
            <p:ph type="body" sz="half" idx="2"/>
          </p:nvPr>
        </p:nvSpPr>
        <p:spPr>
          <a:xfrm>
            <a:off x="7757839" y="3564412"/>
            <a:ext cx="3748361" cy="2696944"/>
          </a:xfrm>
        </p:spPr>
        <p:txBody>
          <a:bodyPr vert="horz" lIns="91440" tIns="45720" rIns="91440" bIns="45720" rtlCol="0">
            <a:normAutofit/>
          </a:bodyPr>
          <a:lstStyle/>
          <a:p>
            <a:pPr marL="342900" indent="-228600">
              <a:lnSpc>
                <a:spcPct val="100000"/>
              </a:lnSpc>
              <a:buFont typeface="Arial" panose="020B0604020202020204" pitchFamily="34" charset="0"/>
              <a:buChar char="•"/>
            </a:pPr>
            <a:r>
              <a:rPr lang="en-US" sz="1700" i="0">
                <a:solidFill>
                  <a:schemeClr val="tx1"/>
                </a:solidFill>
              </a:rPr>
              <a:t>Visualizing sales data across product categories, Age, gender and Current city years our dashboard empowers decision-makers with actionable insights to optimize marketing strategies, inventory management, and overall business performance.</a:t>
            </a:r>
          </a:p>
        </p:txBody>
      </p:sp>
    </p:spTree>
    <p:extLst>
      <p:ext uri="{BB962C8B-B14F-4D97-AF65-F5344CB8AC3E}">
        <p14:creationId xmlns:p14="http://schemas.microsoft.com/office/powerpoint/2010/main" val="3413237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3761EB98-E0C4-4B95-984A-E7D9DFAD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76370A-02AD-F319-0C47-F5E13A808A70}"/>
              </a:ext>
            </a:extLst>
          </p:cNvPr>
          <p:cNvSpPr>
            <a:spLocks noGrp="1"/>
          </p:cNvSpPr>
          <p:nvPr>
            <p:ph type="title"/>
          </p:nvPr>
        </p:nvSpPr>
        <p:spPr>
          <a:xfrm>
            <a:off x="838200" y="365125"/>
            <a:ext cx="10515601" cy="1842248"/>
          </a:xfrm>
        </p:spPr>
        <p:txBody>
          <a:bodyPr vert="horz" lIns="91440" tIns="45720" rIns="91440" bIns="45720" rtlCol="0" anchor="b">
            <a:normAutofit/>
          </a:bodyPr>
          <a:lstStyle/>
          <a:p>
            <a:r>
              <a:rPr lang="en-US" kern="1200">
                <a:gradFill>
                  <a:gsLst>
                    <a:gs pos="100000">
                      <a:schemeClr val="tx2"/>
                    </a:gs>
                    <a:gs pos="0">
                      <a:schemeClr val="accent1"/>
                    </a:gs>
                  </a:gsLst>
                  <a:lin ang="0" scaled="1"/>
                </a:gradFill>
                <a:latin typeface="Aharoni" panose="02010803020104030203" pitchFamily="2" charset="-79"/>
                <a:ea typeface="+mn-ea"/>
                <a:cs typeface="Angsana New" panose="02020603050405020304" pitchFamily="18" charset="-34"/>
              </a:rPr>
              <a:t>Conclusion</a:t>
            </a:r>
          </a:p>
        </p:txBody>
      </p:sp>
      <p:sp>
        <p:nvSpPr>
          <p:cNvPr id="63" name="Text Placeholder 3">
            <a:extLst>
              <a:ext uri="{FF2B5EF4-FFF2-40B4-BE49-F238E27FC236}">
                <a16:creationId xmlns:a16="http://schemas.microsoft.com/office/drawing/2014/main" id="{563C7FC3-6EA3-3423-5301-1E7B72B60974}"/>
              </a:ext>
            </a:extLst>
          </p:cNvPr>
          <p:cNvSpPr>
            <a:spLocks noGrp="1"/>
          </p:cNvSpPr>
          <p:nvPr>
            <p:ph type="body" sz="half" idx="2"/>
          </p:nvPr>
        </p:nvSpPr>
        <p:spPr>
          <a:xfrm>
            <a:off x="838200" y="2590800"/>
            <a:ext cx="7580811" cy="3581400"/>
          </a:xfrm>
        </p:spPr>
        <p:txBody>
          <a:bodyPr vert="horz" lIns="91440" tIns="45720" rIns="91440" bIns="45720" rtlCol="0" anchor="t">
            <a:normAutofit/>
          </a:bodyPr>
          <a:lstStyle/>
          <a:p>
            <a:pPr indent="-228600">
              <a:lnSpc>
                <a:spcPct val="100000"/>
              </a:lnSpc>
              <a:buFont typeface="Arial" panose="020B0604020202020204" pitchFamily="34" charset="0"/>
              <a:buChar char="•"/>
            </a:pPr>
            <a:r>
              <a:rPr lang="en-US" sz="1600" i="0" dirty="0">
                <a:solidFill>
                  <a:schemeClr val="tx1"/>
                </a:solidFill>
                <a:latin typeface="Times New Roman"/>
                <a:cs typeface="Times New Roman"/>
              </a:rPr>
              <a:t>Our visual analytics uncovered valuable insights into Black Friday spending:</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25–35-year-old customers are key – they outspend other age groups.</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Customers who moved to  city in the past 12 months tend to spend more during Black Friday sales.</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Men make more overall purchases than women.</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Unmarried customers tend to spend more than married people.</a:t>
            </a:r>
          </a:p>
          <a:p>
            <a:pPr marL="342900" indent="-228600">
              <a:lnSpc>
                <a:spcPct val="100000"/>
              </a:lnSpc>
              <a:buFont typeface="Arial" panose="020B0604020202020204" pitchFamily="34" charset="0"/>
              <a:buChar char="•"/>
            </a:pPr>
            <a:r>
              <a:rPr lang="en-US" sz="1600" i="0" dirty="0">
                <a:solidFill>
                  <a:schemeClr val="tx1"/>
                </a:solidFill>
                <a:latin typeface="Times New Roman"/>
                <a:cs typeface="Times New Roman"/>
              </a:rPr>
              <a:t>Consumers spend more in electronic categories followed by clothing and home appliances.</a:t>
            </a:r>
          </a:p>
          <a:p>
            <a:pPr marL="342900" indent="-228600">
              <a:lnSpc>
                <a:spcPct val="100000"/>
              </a:lnSpc>
              <a:buFont typeface="Arial" panose="020B0604020202020204" pitchFamily="34" charset="0"/>
              <a:buChar char="•"/>
            </a:pPr>
            <a:endParaRPr lang="en-US" sz="1700" i="0">
              <a:solidFill>
                <a:schemeClr val="tx1"/>
              </a:solidFill>
            </a:endParaRPr>
          </a:p>
          <a:p>
            <a:pPr marL="342900" indent="-228600">
              <a:lnSpc>
                <a:spcPct val="100000"/>
              </a:lnSpc>
              <a:buFont typeface="Arial" panose="020B0604020202020204" pitchFamily="34" charset="0"/>
              <a:buChar char="•"/>
            </a:pPr>
            <a:endParaRPr lang="en-US" sz="1700">
              <a:solidFill>
                <a:schemeClr val="tx1"/>
              </a:solidFill>
            </a:endParaRPr>
          </a:p>
          <a:p>
            <a:pPr marL="342900" indent="-228600">
              <a:lnSpc>
                <a:spcPct val="100000"/>
              </a:lnSpc>
              <a:buFont typeface="Arial" panose="020B0604020202020204" pitchFamily="34" charset="0"/>
              <a:buChar char="•"/>
            </a:pPr>
            <a:endParaRPr lang="en-US" sz="1700">
              <a:solidFill>
                <a:schemeClr val="tx1"/>
              </a:solidFill>
            </a:endParaRPr>
          </a:p>
          <a:p>
            <a:pPr indent="-228600">
              <a:lnSpc>
                <a:spcPct val="100000"/>
              </a:lnSpc>
              <a:buFont typeface="Arial" panose="020B0604020202020204" pitchFamily="34" charset="0"/>
              <a:buChar char="•"/>
            </a:pPr>
            <a:endParaRPr lang="en-US" sz="1700">
              <a:solidFill>
                <a:schemeClr val="tx1"/>
              </a:solidFill>
            </a:endParaRPr>
          </a:p>
          <a:p>
            <a:pPr marL="342900" indent="-228600">
              <a:lnSpc>
                <a:spcPct val="100000"/>
              </a:lnSpc>
              <a:buFont typeface="Arial" panose="020B0604020202020204" pitchFamily="34" charset="0"/>
              <a:buChar char="•"/>
            </a:pPr>
            <a:endParaRPr lang="en-US" sz="1700">
              <a:solidFill>
                <a:schemeClr val="tx1"/>
              </a:solidFill>
            </a:endParaRPr>
          </a:p>
          <a:p>
            <a:pPr marL="342900" indent="-228600">
              <a:lnSpc>
                <a:spcPct val="100000"/>
              </a:lnSpc>
              <a:buFont typeface="Arial" panose="020B0604020202020204" pitchFamily="34" charset="0"/>
              <a:buChar char="•"/>
            </a:pPr>
            <a:endParaRPr lang="en-US" sz="1700">
              <a:solidFill>
                <a:schemeClr val="tx1"/>
              </a:solidFill>
            </a:endParaRPr>
          </a:p>
          <a:p>
            <a:pPr indent="-228600">
              <a:lnSpc>
                <a:spcPct val="100000"/>
              </a:lnSpc>
              <a:buFont typeface="Arial" panose="020B0604020202020204" pitchFamily="34" charset="0"/>
              <a:buChar char="•"/>
            </a:pPr>
            <a:endParaRPr lang="en-US" sz="1700">
              <a:solidFill>
                <a:schemeClr val="tx1"/>
              </a:solidFill>
            </a:endParaRPr>
          </a:p>
        </p:txBody>
      </p:sp>
    </p:spTree>
    <p:extLst>
      <p:ext uri="{BB962C8B-B14F-4D97-AF65-F5344CB8AC3E}">
        <p14:creationId xmlns:p14="http://schemas.microsoft.com/office/powerpoint/2010/main" val="840598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FCCD4C3-17F4-425F-A2B6-AAF5D7770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B69A5-9F6D-799D-8070-D5C9404AFD5C}"/>
              </a:ext>
            </a:extLst>
          </p:cNvPr>
          <p:cNvSpPr>
            <a:spLocks noGrp="1"/>
          </p:cNvSpPr>
          <p:nvPr>
            <p:ph type="title"/>
          </p:nvPr>
        </p:nvSpPr>
        <p:spPr>
          <a:xfrm>
            <a:off x="2926081" y="365125"/>
            <a:ext cx="8427719" cy="2225675"/>
          </a:xfrm>
        </p:spPr>
        <p:txBody>
          <a:bodyPr>
            <a:normAutofit/>
          </a:bodyPr>
          <a:lstStyle/>
          <a:p>
            <a:pPr algn="r"/>
            <a:r>
              <a:rPr lang="en-US">
                <a:latin typeface="Aharoni"/>
                <a:cs typeface="Angsana New"/>
              </a:rPr>
              <a:t>Recommendations from Analysis</a:t>
            </a:r>
            <a:endParaRPr lang="en-US"/>
          </a:p>
        </p:txBody>
      </p:sp>
      <p:sp>
        <p:nvSpPr>
          <p:cNvPr id="3" name="Content Placeholder 2">
            <a:extLst>
              <a:ext uri="{FF2B5EF4-FFF2-40B4-BE49-F238E27FC236}">
                <a16:creationId xmlns:a16="http://schemas.microsoft.com/office/drawing/2014/main" id="{E24DF875-AB0C-497E-1DEE-6CC3618B2C58}"/>
              </a:ext>
            </a:extLst>
          </p:cNvPr>
          <p:cNvSpPr>
            <a:spLocks noGrp="1"/>
          </p:cNvSpPr>
          <p:nvPr>
            <p:ph idx="1"/>
          </p:nvPr>
        </p:nvSpPr>
        <p:spPr>
          <a:xfrm>
            <a:off x="851115" y="2586113"/>
            <a:ext cx="7278741" cy="3418188"/>
          </a:xfrm>
        </p:spPr>
        <p:txBody>
          <a:bodyPr vert="horz" lIns="91440" tIns="45720" rIns="91440" bIns="45720" rtlCol="0" anchor="t">
            <a:noAutofit/>
          </a:bodyPr>
          <a:lstStyle/>
          <a:p>
            <a:pPr marL="0" indent="0">
              <a:lnSpc>
                <a:spcPct val="100000"/>
              </a:lnSpc>
              <a:buNone/>
            </a:pPr>
            <a:r>
              <a:rPr lang="en-US" sz="1600" i="0" dirty="0">
                <a:latin typeface="Times New Roman"/>
                <a:cs typeface="Times New Roman"/>
              </a:rPr>
              <a:t>Retailers can apply these learnings to fine-tune promotions:</a:t>
            </a:r>
          </a:p>
          <a:p>
            <a:pPr marL="342900" indent="-342900">
              <a:lnSpc>
                <a:spcPct val="100000"/>
              </a:lnSpc>
            </a:pPr>
            <a:r>
              <a:rPr lang="en-US" sz="1600" i="0" dirty="0">
                <a:latin typeface="Times New Roman"/>
                <a:cs typeface="Times New Roman"/>
              </a:rPr>
              <a:t>Targeted ads for the high-spending groups </a:t>
            </a:r>
            <a:r>
              <a:rPr lang="en-US" sz="1600" dirty="0">
                <a:latin typeface="Times New Roman"/>
                <a:cs typeface="Times New Roman"/>
              </a:rPr>
              <a:t>like 25-35 </a:t>
            </a:r>
            <a:r>
              <a:rPr lang="en-US" sz="1600" i="0" dirty="0">
                <a:latin typeface="Times New Roman"/>
                <a:cs typeface="Times New Roman"/>
              </a:rPr>
              <a:t>years </a:t>
            </a:r>
            <a:r>
              <a:rPr lang="en-US" sz="1600" dirty="0">
                <a:latin typeface="Times New Roman"/>
                <a:cs typeface="Times New Roman"/>
              </a:rPr>
              <a:t>old</a:t>
            </a:r>
            <a:r>
              <a:rPr lang="en-US" sz="1600" i="0" dirty="0">
                <a:latin typeface="Times New Roman"/>
                <a:cs typeface="Times New Roman"/>
              </a:rPr>
              <a:t>.</a:t>
            </a:r>
            <a:r>
              <a:rPr lang="en-US" sz="1600" dirty="0">
                <a:latin typeface="Times New Roman"/>
                <a:cs typeface="Times New Roman"/>
              </a:rPr>
              <a:t> </a:t>
            </a:r>
            <a:endParaRPr lang="en-US" sz="1600" i="0" dirty="0">
              <a:latin typeface="Times New Roman" panose="02020603050405020304" pitchFamily="18" charset="0"/>
              <a:cs typeface="Times New Roman" panose="02020603050405020304" pitchFamily="18" charset="0"/>
            </a:endParaRPr>
          </a:p>
          <a:p>
            <a:pPr marL="342900" indent="-342900">
              <a:lnSpc>
                <a:spcPct val="100000"/>
              </a:lnSpc>
            </a:pPr>
            <a:r>
              <a:rPr lang="en-US" sz="1600" i="0" dirty="0">
                <a:latin typeface="Times New Roman"/>
                <a:cs typeface="Times New Roman"/>
              </a:rPr>
              <a:t>Offer special deals on electronic gadgets like TV's, laptops for</a:t>
            </a:r>
            <a:r>
              <a:rPr lang="en-US" sz="1600" dirty="0">
                <a:latin typeface="Times New Roman"/>
                <a:cs typeface="Times New Roman"/>
              </a:rPr>
              <a:t> </a:t>
            </a:r>
            <a:r>
              <a:rPr lang="en-US" sz="1600" i="0" dirty="0">
                <a:latin typeface="Times New Roman"/>
                <a:cs typeface="Times New Roman"/>
              </a:rPr>
              <a:t> those who moved recently to new city.</a:t>
            </a:r>
          </a:p>
          <a:p>
            <a:pPr marL="342900" indent="-342900">
              <a:lnSpc>
                <a:spcPct val="100000"/>
              </a:lnSpc>
              <a:buFont typeface="Arial" panose="020B0604020202020204" pitchFamily="34" charset="0"/>
              <a:buChar char="•"/>
            </a:pPr>
            <a:r>
              <a:rPr lang="en-US" sz="1600" i="0" dirty="0">
                <a:latin typeface="Times New Roman"/>
                <a:cs typeface="Times New Roman"/>
              </a:rPr>
              <a:t>Men tend to buy more during Black Friday sales with proven demand, spotlight electronic gadget deals and feature tools.</a:t>
            </a:r>
          </a:p>
          <a:p>
            <a:pPr marL="342900" indent="-342900">
              <a:lnSpc>
                <a:spcPct val="100000"/>
              </a:lnSpc>
            </a:pPr>
            <a:r>
              <a:rPr lang="en-US" sz="1600" i="0" dirty="0">
                <a:latin typeface="Times New Roman"/>
                <a:cs typeface="Times New Roman"/>
              </a:rPr>
              <a:t>The data showing that </a:t>
            </a:r>
            <a:r>
              <a:rPr lang="en-US" sz="1600" dirty="0">
                <a:latin typeface="Times New Roman"/>
                <a:cs typeface="Times New Roman"/>
              </a:rPr>
              <a:t>City Category B</a:t>
            </a:r>
            <a:r>
              <a:rPr lang="en-US" sz="1600" i="0" dirty="0">
                <a:latin typeface="Times New Roman"/>
                <a:cs typeface="Times New Roman"/>
              </a:rPr>
              <a:t> </a:t>
            </a:r>
            <a:r>
              <a:rPr lang="en-US" sz="1600" dirty="0">
                <a:latin typeface="Times New Roman"/>
                <a:cs typeface="Times New Roman"/>
              </a:rPr>
              <a:t>customers </a:t>
            </a:r>
            <a:r>
              <a:rPr lang="en-US" sz="1600" i="0" dirty="0">
                <a:latin typeface="Times New Roman"/>
                <a:cs typeface="Times New Roman"/>
              </a:rPr>
              <a:t> </a:t>
            </a:r>
            <a:r>
              <a:rPr lang="en-US" sz="1600" dirty="0">
                <a:latin typeface="Times New Roman"/>
                <a:cs typeface="Times New Roman"/>
              </a:rPr>
              <a:t>tend to spends more on Black</a:t>
            </a:r>
            <a:r>
              <a:rPr lang="en-US" sz="1600" i="0" dirty="0">
                <a:latin typeface="Times New Roman"/>
                <a:cs typeface="Times New Roman"/>
              </a:rPr>
              <a:t> Friday provides a clear target segment for retailers.</a:t>
            </a:r>
          </a:p>
          <a:p>
            <a:pPr marL="342900" indent="-342900">
              <a:lnSpc>
                <a:spcPct val="100000"/>
              </a:lnSpc>
              <a:buFont typeface="Arial" panose="020B0604020202020204" pitchFamily="34" charset="0"/>
              <a:buChar char="•"/>
            </a:pPr>
            <a:r>
              <a:rPr lang="en-US" sz="1600" i="0" dirty="0">
                <a:latin typeface="Times New Roman"/>
                <a:cs typeface="Times New Roman"/>
              </a:rPr>
              <a:t>Data-driven strategies will empower businesses to optimize Black Friday returns.</a:t>
            </a:r>
          </a:p>
          <a:p>
            <a:pPr marL="342900" indent="-342900">
              <a:lnSpc>
                <a:spcPct val="100000"/>
              </a:lnSpc>
            </a:pPr>
            <a:r>
              <a:rPr lang="en-US" sz="1600" dirty="0">
                <a:latin typeface="Times New Roman"/>
                <a:cs typeface="Times New Roman"/>
              </a:rPr>
              <a:t>Also promoting unmarried consumers encourages to buy more products.</a:t>
            </a:r>
          </a:p>
          <a:p>
            <a:pPr marL="342900" indent="-342900">
              <a:lnSpc>
                <a:spcPct val="100000"/>
              </a:lnSpc>
            </a:pPr>
            <a:endParaRPr lang="en-US" sz="1400"/>
          </a:p>
          <a:p>
            <a:pPr>
              <a:lnSpc>
                <a:spcPct val="100000"/>
              </a:lnSpc>
            </a:pPr>
            <a:endParaRPr lang="en-US" sz="1400"/>
          </a:p>
          <a:p>
            <a:pPr>
              <a:lnSpc>
                <a:spcPct val="100000"/>
              </a:lnSpc>
            </a:pPr>
            <a:endParaRPr lang="en-US" sz="1400"/>
          </a:p>
        </p:txBody>
      </p:sp>
    </p:spTree>
    <p:extLst>
      <p:ext uri="{BB962C8B-B14F-4D97-AF65-F5344CB8AC3E}">
        <p14:creationId xmlns:p14="http://schemas.microsoft.com/office/powerpoint/2010/main" val="450398041"/>
      </p:ext>
    </p:extLst>
  </p:cSld>
  <p:clrMapOvr>
    <a:masterClrMapping/>
  </p:clrMapOvr>
</p:sld>
</file>

<file path=ppt/theme/theme1.xml><?xml version="1.0" encoding="utf-8"?>
<a:theme xmlns:a="http://schemas.openxmlformats.org/drawingml/2006/main" name="FadeVTI">
  <a:themeElements>
    <a:clrScheme name="gradient">
      <a:dk1>
        <a:sysClr val="windowText" lastClr="000000"/>
      </a:dk1>
      <a:lt1>
        <a:sysClr val="window" lastClr="FFFFFF"/>
      </a:lt1>
      <a:dk2>
        <a:srgbClr val="203040"/>
      </a:dk2>
      <a:lt2>
        <a:srgbClr val="ECF0F0"/>
      </a:lt2>
      <a:accent1>
        <a:srgbClr val="00BAC8"/>
      </a:accent1>
      <a:accent2>
        <a:srgbClr val="794DFF"/>
      </a:accent2>
      <a:accent3>
        <a:srgbClr val="00D17D"/>
      </a:accent3>
      <a:accent4>
        <a:srgbClr val="E69500"/>
      </a:accent4>
      <a:accent5>
        <a:srgbClr val="FE5D21"/>
      </a:accent5>
      <a:accent6>
        <a:srgbClr val="DA2A69"/>
      </a:accent6>
      <a:hlink>
        <a:srgbClr val="3E8FF1"/>
      </a:hlink>
      <a:folHlink>
        <a:srgbClr val="939393"/>
      </a:folHlink>
    </a:clrScheme>
    <a:fontScheme name="Custom 49">
      <a:majorFont>
        <a:latin typeface="Aharon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adeVTI" id="{1194088A-B135-4437-9FD8-7466BBC13A13}" vid="{B787DE2F-1995-45D8-A8E2-6B5CC521AC55}"/>
    </a:ext>
  </a:extLst>
</a:theme>
</file>

<file path=docProps/app.xml><?xml version="1.0" encoding="utf-8"?>
<Properties xmlns="http://schemas.openxmlformats.org/officeDocument/2006/extended-properties" xmlns:vt="http://schemas.openxmlformats.org/officeDocument/2006/docPropsVTypes">
  <Template>office theme</Template>
  <TotalTime>79</TotalTime>
  <Words>419</Words>
  <Application>Microsoft Office PowerPoint</Application>
  <PresentationFormat>Widescreen</PresentationFormat>
  <Paragraphs>37</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FadeVTI</vt:lpstr>
      <vt:lpstr>Data Visualization Project for Black Friday Sales</vt:lpstr>
      <vt:lpstr>Introduction</vt:lpstr>
      <vt:lpstr>Understanding Data Set, Data Source, identify key metrics</vt:lpstr>
      <vt:lpstr>Research Questions</vt:lpstr>
      <vt:lpstr>Age Vs Purchases</vt:lpstr>
      <vt:lpstr>Stay in current city Years</vt:lpstr>
      <vt:lpstr>Gender Vs Purchases</vt:lpstr>
      <vt:lpstr>Top selling Products</vt:lpstr>
      <vt:lpstr>DASHBOARD</vt:lpstr>
      <vt:lpstr>Conclusion</vt:lpstr>
      <vt:lpstr>Recommendations from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RISHI</dc:creator>
  <cp:lastModifiedBy>RISHI</cp:lastModifiedBy>
  <cp:revision>255</cp:revision>
  <dcterms:created xsi:type="dcterms:W3CDTF">2023-12-08T14:55:34Z</dcterms:created>
  <dcterms:modified xsi:type="dcterms:W3CDTF">2023-12-11T01:08:32Z</dcterms:modified>
</cp:coreProperties>
</file>